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67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14.png"/><Relationship Id="rId21" Type="http://schemas.openxmlformats.org/officeDocument/2006/relationships/image" Target="../media/image45.png"/><Relationship Id="rId34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33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31" Type="http://schemas.openxmlformats.org/officeDocument/2006/relationships/image" Target="../media/image55.png"/><Relationship Id="rId4" Type="http://schemas.openxmlformats.org/officeDocument/2006/relationships/image" Target="../media/image15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8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2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14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15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18" Type="http://schemas.openxmlformats.org/officeDocument/2006/relationships/image" Target="../media/image99.png"/><Relationship Id="rId3" Type="http://schemas.openxmlformats.org/officeDocument/2006/relationships/image" Target="../media/image14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15.png"/><Relationship Id="rId9" Type="http://schemas.openxmlformats.org/officeDocument/2006/relationships/image" Target="../media/image32.png"/><Relationship Id="rId14" Type="http://schemas.openxmlformats.org/officeDocument/2006/relationships/image" Target="../media/image9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14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89.png"/><Relationship Id="rId15" Type="http://schemas.openxmlformats.org/officeDocument/2006/relationships/image" Target="../media/image108.png"/><Relationship Id="rId10" Type="http://schemas.openxmlformats.org/officeDocument/2006/relationships/image" Target="../media/image104.png"/><Relationship Id="rId4" Type="http://schemas.openxmlformats.org/officeDocument/2006/relationships/image" Target="../media/image15.png"/><Relationship Id="rId9" Type="http://schemas.openxmlformats.org/officeDocument/2006/relationships/image" Target="../media/image10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96.png"/><Relationship Id="rId18" Type="http://schemas.openxmlformats.org/officeDocument/2006/relationships/image" Target="../media/image120.png"/><Relationship Id="rId3" Type="http://schemas.openxmlformats.org/officeDocument/2006/relationships/image" Target="../media/image14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8.png"/><Relationship Id="rId10" Type="http://schemas.openxmlformats.org/officeDocument/2006/relationships/image" Target="../media/image114.png"/><Relationship Id="rId4" Type="http://schemas.openxmlformats.org/officeDocument/2006/relationships/image" Target="../media/image15.png"/><Relationship Id="rId9" Type="http://schemas.openxmlformats.org/officeDocument/2006/relationships/image" Target="../media/image113.png"/><Relationship Id="rId14" Type="http://schemas.openxmlformats.org/officeDocument/2006/relationships/image" Target="../media/image1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15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26.png"/><Relationship Id="rId5" Type="http://schemas.openxmlformats.org/officeDocument/2006/relationships/image" Target="../media/image112.png"/><Relationship Id="rId15" Type="http://schemas.openxmlformats.org/officeDocument/2006/relationships/image" Target="../media/image28.png"/><Relationship Id="rId10" Type="http://schemas.openxmlformats.org/officeDocument/2006/relationships/image" Target="../media/image125.png"/><Relationship Id="rId4" Type="http://schemas.openxmlformats.org/officeDocument/2006/relationships/image" Target="../media/image121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28.png"/><Relationship Id="rId3" Type="http://schemas.openxmlformats.org/officeDocument/2006/relationships/image" Target="../media/image14.png"/><Relationship Id="rId7" Type="http://schemas.openxmlformats.org/officeDocument/2006/relationships/image" Target="../media/image133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6.png"/><Relationship Id="rId5" Type="http://schemas.openxmlformats.org/officeDocument/2006/relationships/image" Target="../media/image131.png"/><Relationship Id="rId10" Type="http://schemas.openxmlformats.org/officeDocument/2006/relationships/image" Target="../media/image135.png"/><Relationship Id="rId4" Type="http://schemas.openxmlformats.org/officeDocument/2006/relationships/image" Target="../media/image15.png"/><Relationship Id="rId9" Type="http://schemas.openxmlformats.org/officeDocument/2006/relationships/image" Target="../media/image32.png"/><Relationship Id="rId14" Type="http://schemas.openxmlformats.org/officeDocument/2006/relationships/image" Target="../media/image1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4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3.png"/><Relationship Id="rId5" Type="http://schemas.openxmlformats.org/officeDocument/2006/relationships/image" Target="../media/image139.png"/><Relationship Id="rId10" Type="http://schemas.openxmlformats.org/officeDocument/2006/relationships/image" Target="../media/image28.png"/><Relationship Id="rId4" Type="http://schemas.openxmlformats.org/officeDocument/2006/relationships/image" Target="../media/image15.png"/><Relationship Id="rId9" Type="http://schemas.openxmlformats.org/officeDocument/2006/relationships/image" Target="../media/image1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3" Type="http://schemas.openxmlformats.org/officeDocument/2006/relationships/image" Target="../media/image14.png"/><Relationship Id="rId21" Type="http://schemas.openxmlformats.org/officeDocument/2006/relationships/image" Target="../media/image160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19" Type="http://schemas.openxmlformats.org/officeDocument/2006/relationships/image" Target="../media/image158.png"/><Relationship Id="rId4" Type="http://schemas.openxmlformats.org/officeDocument/2006/relationships/image" Target="../media/image15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Relationship Id="rId22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28.png"/><Relationship Id="rId3" Type="http://schemas.openxmlformats.org/officeDocument/2006/relationships/image" Target="../media/image14.png"/><Relationship Id="rId7" Type="http://schemas.openxmlformats.org/officeDocument/2006/relationships/image" Target="../media/image163.png"/><Relationship Id="rId12" Type="http://schemas.openxmlformats.org/officeDocument/2006/relationships/image" Target="../media/image16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6.png"/><Relationship Id="rId5" Type="http://schemas.openxmlformats.org/officeDocument/2006/relationships/image" Target="../media/image161.png"/><Relationship Id="rId10" Type="http://schemas.openxmlformats.org/officeDocument/2006/relationships/image" Target="../media/image165.png"/><Relationship Id="rId4" Type="http://schemas.openxmlformats.org/officeDocument/2006/relationships/image" Target="../media/image15.png"/><Relationship Id="rId9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1104900"/>
            <a:ext cx="9525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051" y="2019300"/>
            <a:ext cx="901750" cy="9016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000" y="2019300"/>
            <a:ext cx="901601" cy="90160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0" y="2997101"/>
            <a:ext cx="901601" cy="901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5051" y="2997101"/>
            <a:ext cx="901750" cy="901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3000" y="2997101"/>
            <a:ext cx="901601" cy="901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0" y="3975050"/>
            <a:ext cx="901601" cy="90160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5051" y="3975050"/>
            <a:ext cx="901750" cy="90160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3000" y="3975050"/>
            <a:ext cx="901601" cy="90160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810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181600"/>
            <a:ext cx="914400" cy="914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9000" y="762000"/>
            <a:ext cx="762000" cy="7620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-48768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Solving the 8-Puzzle Problem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-487680" y="1371600"/>
            <a:ext cx="13167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Comparative Analysis of AI Search Algorithms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4958953" y="2019300"/>
            <a:ext cx="1081921" cy="9016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endParaRPr lang="en-US" sz="3600" dirty="0"/>
          </a:p>
        </p:txBody>
      </p:sp>
      <p:sp>
        <p:nvSpPr>
          <p:cNvPr id="18" name="Text 3"/>
          <p:cNvSpPr/>
          <p:nvPr/>
        </p:nvSpPr>
        <p:spPr>
          <a:xfrm>
            <a:off x="5936754" y="2019300"/>
            <a:ext cx="1082100" cy="9016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3600" dirty="0"/>
          </a:p>
        </p:txBody>
      </p:sp>
      <p:sp>
        <p:nvSpPr>
          <p:cNvPr id="19" name="Text 4"/>
          <p:cNvSpPr/>
          <p:nvPr/>
        </p:nvSpPr>
        <p:spPr>
          <a:xfrm>
            <a:off x="6914704" y="2019300"/>
            <a:ext cx="1081921" cy="9016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5"/>
          <p:cNvSpPr/>
          <p:nvPr/>
        </p:nvSpPr>
        <p:spPr>
          <a:xfrm>
            <a:off x="4958953" y="2997101"/>
            <a:ext cx="1081921" cy="901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6"/>
          <p:cNvSpPr/>
          <p:nvPr/>
        </p:nvSpPr>
        <p:spPr>
          <a:xfrm>
            <a:off x="5936754" y="2997101"/>
            <a:ext cx="1082100" cy="901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3600" dirty="0"/>
          </a:p>
        </p:txBody>
      </p:sp>
      <p:sp>
        <p:nvSpPr>
          <p:cNvPr id="22" name="Text 7"/>
          <p:cNvSpPr/>
          <p:nvPr/>
        </p:nvSpPr>
        <p:spPr>
          <a:xfrm>
            <a:off x="6914704" y="2997101"/>
            <a:ext cx="1081921" cy="901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3600" dirty="0"/>
          </a:p>
        </p:txBody>
      </p:sp>
      <p:sp>
        <p:nvSpPr>
          <p:cNvPr id="23" name="Text 8"/>
          <p:cNvSpPr/>
          <p:nvPr/>
        </p:nvSpPr>
        <p:spPr>
          <a:xfrm>
            <a:off x="4958953" y="3975050"/>
            <a:ext cx="1081921" cy="9016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</a:t>
            </a:r>
            <a:endParaRPr lang="en-US" sz="3600" dirty="0"/>
          </a:p>
        </p:txBody>
      </p:sp>
      <p:sp>
        <p:nvSpPr>
          <p:cNvPr id="24" name="Text 9"/>
          <p:cNvSpPr/>
          <p:nvPr/>
        </p:nvSpPr>
        <p:spPr>
          <a:xfrm>
            <a:off x="5936754" y="3975050"/>
            <a:ext cx="1082100" cy="9016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</a:t>
            </a:r>
            <a:endParaRPr lang="en-US" sz="3600" dirty="0"/>
          </a:p>
        </p:txBody>
      </p:sp>
      <p:sp>
        <p:nvSpPr>
          <p:cNvPr id="25" name="Text 10"/>
          <p:cNvSpPr/>
          <p:nvPr/>
        </p:nvSpPr>
        <p:spPr>
          <a:xfrm>
            <a:off x="609600" y="6248400"/>
            <a:ext cx="32705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Faculty of Computer Science</a:t>
            </a:r>
            <a:endParaRPr lang="en-US" sz="1500" dirty="0"/>
          </a:p>
        </p:txBody>
      </p:sp>
      <p:sp>
        <p:nvSpPr>
          <p:cNvPr id="26" name="Text 11"/>
          <p:cNvSpPr/>
          <p:nvPr/>
        </p:nvSpPr>
        <p:spPr>
          <a:xfrm>
            <a:off x="609600" y="6553200"/>
            <a:ext cx="32705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Project Presentation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7147322" y="4779550"/>
            <a:ext cx="4663678" cy="160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Team Members:
[Abdallah Elsawy Esmail Mohamed Elbedawy]
[Ahmed Mostafa Amer Elkholy]
[Abdelrahman Mohamed Medhat Elsayed Abdelfattah]
[Mohamed Hamdy Ahmed Elsayed Selim]</a:t>
            </a:r>
          </a:p>
          <a:p>
            <a:pPr marL="0" indent="0" algn="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[Abdallah Khaled Hassan Abdelsalam </a:t>
            </a:r>
            <a:r>
              <a:rPr lang="en-US" sz="13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Elmelegy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]</a:t>
            </a:r>
          </a:p>
          <a:p>
            <a:pPr marL="0" indent="0" algn="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endParaRPr lang="en-US" sz="1350" dirty="0"/>
          </a:p>
        </p:txBody>
      </p:sp>
      <p:sp>
        <p:nvSpPr>
          <p:cNvPr id="28" name="Text 13"/>
          <p:cNvSpPr/>
          <p:nvPr/>
        </p:nvSpPr>
        <p:spPr>
          <a:xfrm>
            <a:off x="10445948" y="6477000"/>
            <a:ext cx="18209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December 20, 2025</a:t>
            </a:r>
            <a:endParaRPr lang="en-US" sz="1200" dirty="0"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130190DF-2D7A-C228-7A22-A8CFD508A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101" y="2019300"/>
            <a:ext cx="901750" cy="9016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9B77C95-2AB0-87D5-EA00-518286CD3328}"/>
              </a:ext>
            </a:extLst>
          </p:cNvPr>
          <p:cNvSpPr txBox="1"/>
          <p:nvPr/>
        </p:nvSpPr>
        <p:spPr>
          <a:xfrm>
            <a:off x="4912803" y="2072200"/>
            <a:ext cx="58173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</a:rPr>
              <a:t>1</a:t>
            </a:r>
            <a:endParaRPr lang="ar-EG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1717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5433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3815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850" y="1695450"/>
            <a:ext cx="920651" cy="92065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126" y="1695450"/>
            <a:ext cx="920800" cy="92065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9550" y="1695450"/>
            <a:ext cx="920651" cy="92065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2850" y="2663726"/>
            <a:ext cx="920651" cy="920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1126" y="2663726"/>
            <a:ext cx="920800" cy="920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9550" y="2663726"/>
            <a:ext cx="920651" cy="920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2850" y="3632150"/>
            <a:ext cx="920651" cy="92065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1126" y="3632150"/>
            <a:ext cx="920800" cy="92065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99550" y="3632150"/>
            <a:ext cx="920651" cy="92065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190500" y="95250"/>
            <a:ext cx="1417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Overview - The 8-Puzzle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685800" y="2133600"/>
            <a:ext cx="60500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classic sliding puzzle played on a 3x3 grid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457200" y="2667000"/>
            <a:ext cx="53340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Consists of eight numbered tiles (1-8) and one empty slot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85800" y="3505200"/>
            <a:ext cx="51054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Objective: Rearrange tiles from initial to goal configuration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685800" y="4343400"/>
            <a:ext cx="51054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Allowed Moves: Up, Down, Left, Right (slide tiles into empty space)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7864078" y="1695450"/>
            <a:ext cx="920651" cy="920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3600" dirty="0"/>
          </a:p>
        </p:txBody>
      </p:sp>
      <p:sp>
        <p:nvSpPr>
          <p:cNvPr id="23" name="Text 6"/>
          <p:cNvSpPr/>
          <p:nvPr/>
        </p:nvSpPr>
        <p:spPr>
          <a:xfrm>
            <a:off x="8832354" y="1695450"/>
            <a:ext cx="920800" cy="920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3600" dirty="0"/>
          </a:p>
        </p:txBody>
      </p:sp>
      <p:sp>
        <p:nvSpPr>
          <p:cNvPr id="24" name="Text 7"/>
          <p:cNvSpPr/>
          <p:nvPr/>
        </p:nvSpPr>
        <p:spPr>
          <a:xfrm>
            <a:off x="9800779" y="1695450"/>
            <a:ext cx="920651" cy="920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8"/>
          <p:cNvSpPr/>
          <p:nvPr/>
        </p:nvSpPr>
        <p:spPr>
          <a:xfrm>
            <a:off x="7864078" y="2663726"/>
            <a:ext cx="920651" cy="920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3600" dirty="0"/>
          </a:p>
        </p:txBody>
      </p:sp>
      <p:sp>
        <p:nvSpPr>
          <p:cNvPr id="26" name="Text 9"/>
          <p:cNvSpPr/>
          <p:nvPr/>
        </p:nvSpPr>
        <p:spPr>
          <a:xfrm>
            <a:off x="8832354" y="2663726"/>
            <a:ext cx="920800" cy="920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3600" dirty="0"/>
          </a:p>
        </p:txBody>
      </p:sp>
      <p:sp>
        <p:nvSpPr>
          <p:cNvPr id="27" name="Text 10"/>
          <p:cNvSpPr/>
          <p:nvPr/>
        </p:nvSpPr>
        <p:spPr>
          <a:xfrm>
            <a:off x="9800779" y="2663726"/>
            <a:ext cx="920651" cy="920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3600" dirty="0"/>
          </a:p>
        </p:txBody>
      </p:sp>
      <p:sp>
        <p:nvSpPr>
          <p:cNvPr id="28" name="Text 11"/>
          <p:cNvSpPr/>
          <p:nvPr/>
        </p:nvSpPr>
        <p:spPr>
          <a:xfrm>
            <a:off x="7864078" y="3632150"/>
            <a:ext cx="920651" cy="920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</a:t>
            </a:r>
            <a:endParaRPr lang="en-US" sz="3600" dirty="0"/>
          </a:p>
        </p:txBody>
      </p:sp>
      <p:sp>
        <p:nvSpPr>
          <p:cNvPr id="29" name="Text 12"/>
          <p:cNvSpPr/>
          <p:nvPr/>
        </p:nvSpPr>
        <p:spPr>
          <a:xfrm>
            <a:off x="8832354" y="3632150"/>
            <a:ext cx="920800" cy="920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</a:t>
            </a:r>
            <a:endParaRPr lang="en-US" sz="3600" dirty="0"/>
          </a:p>
        </p:txBody>
      </p:sp>
      <p:sp>
        <p:nvSpPr>
          <p:cNvPr id="30" name="Text 13"/>
          <p:cNvSpPr/>
          <p:nvPr/>
        </p:nvSpPr>
        <p:spPr>
          <a:xfrm>
            <a:off x="5605835" y="4781550"/>
            <a:ext cx="67713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of a solved 8-Puzzle</a:t>
            </a:r>
            <a:endParaRPr lang="en-US" sz="1500" dirty="0"/>
          </a:p>
        </p:txBody>
      </p:sp>
      <p:sp>
        <p:nvSpPr>
          <p:cNvPr id="31" name="Text 14"/>
          <p:cNvSpPr/>
          <p:nvPr/>
        </p:nvSpPr>
        <p:spPr>
          <a:xfrm>
            <a:off x="5605835" y="5124450"/>
            <a:ext cx="67713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Tiles must be rearranged to reach this configuration</a:t>
            </a:r>
            <a:endParaRPr lang="en-US" sz="1500" dirty="0"/>
          </a:p>
        </p:txBody>
      </p:sp>
      <p:sp>
        <p:nvSpPr>
          <p:cNvPr id="32" name="Text 15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04875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3716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7526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4003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0480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3609975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0767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4457700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51054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65541" y="1504950"/>
            <a:ext cx="615851" cy="61585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9967" y="1504950"/>
            <a:ext cx="616000" cy="61585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54542" y="1504950"/>
            <a:ext cx="615851" cy="61585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5541" y="2149376"/>
            <a:ext cx="615851" cy="616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9967" y="2149376"/>
            <a:ext cx="616000" cy="616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4542" y="2149376"/>
            <a:ext cx="615851" cy="616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65541" y="2793950"/>
            <a:ext cx="615851" cy="61585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9967" y="2793950"/>
            <a:ext cx="616000" cy="61585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54542" y="2793950"/>
            <a:ext cx="615851" cy="61585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70541" y="1504950"/>
            <a:ext cx="615851" cy="61585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4967" y="1504950"/>
            <a:ext cx="616000" cy="61585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59542" y="1504950"/>
            <a:ext cx="615851" cy="61585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70541" y="2149376"/>
            <a:ext cx="615851" cy="616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14967" y="2149376"/>
            <a:ext cx="616000" cy="616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59542" y="2149376"/>
            <a:ext cx="615851" cy="616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70541" y="2793950"/>
            <a:ext cx="615851" cy="61585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4967" y="2793950"/>
            <a:ext cx="616000" cy="615851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59542" y="2793950"/>
            <a:ext cx="615851" cy="615851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99575" y="4078338"/>
            <a:ext cx="931812" cy="931812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546729" y="4476750"/>
            <a:ext cx="200025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899153" y="4078337"/>
            <a:ext cx="931813" cy="931813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79929" y="5121704"/>
            <a:ext cx="907390" cy="90739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546729" y="5391150"/>
            <a:ext cx="200025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906164" y="5094385"/>
            <a:ext cx="931813" cy="931813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190500" y="95250"/>
            <a:ext cx="1181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Characteristics</a:t>
            </a:r>
            <a:endParaRPr lang="en-US" sz="2700" dirty="0"/>
          </a:p>
        </p:txBody>
      </p:sp>
      <p:sp>
        <p:nvSpPr>
          <p:cNvPr id="39" name="Text 1"/>
          <p:cNvSpPr/>
          <p:nvPr/>
        </p:nvSpPr>
        <p:spPr>
          <a:xfrm>
            <a:off x="676275" y="876300"/>
            <a:ext cx="797349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State Space Representation</a:t>
            </a:r>
            <a:endParaRPr lang="en-US" sz="1800" dirty="0"/>
          </a:p>
        </p:txBody>
      </p:sp>
      <p:sp>
        <p:nvSpPr>
          <p:cNvPr id="40" name="Text 2"/>
          <p:cNvSpPr/>
          <p:nvPr/>
        </p:nvSpPr>
        <p:spPr>
          <a:xfrm>
            <a:off x="609600" y="1333500"/>
            <a:ext cx="65731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State: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 unique configuration of the tiles on the 3x3 grid</a:t>
            </a:r>
            <a:endParaRPr lang="en-US" sz="1500" dirty="0"/>
          </a:p>
        </p:txBody>
      </p:sp>
      <p:sp>
        <p:nvSpPr>
          <p:cNvPr id="41" name="Text 3"/>
          <p:cNvSpPr/>
          <p:nvPr/>
        </p:nvSpPr>
        <p:spPr>
          <a:xfrm>
            <a:off x="609600" y="1714500"/>
            <a:ext cx="633978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 legal move that changes the position of the blank space</a:t>
            </a:r>
            <a:endParaRPr lang="en-US" sz="1500" dirty="0"/>
          </a:p>
        </p:txBody>
      </p:sp>
      <p:sp>
        <p:nvSpPr>
          <p:cNvPr id="42" name="Text 4"/>
          <p:cNvSpPr/>
          <p:nvPr/>
        </p:nvSpPr>
        <p:spPr>
          <a:xfrm>
            <a:off x="609600" y="2362200"/>
            <a:ext cx="633978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Goal Test: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Verifies if the current state matches the goal configuration</a:t>
            </a:r>
            <a:endParaRPr lang="en-US" sz="1500" dirty="0"/>
          </a:p>
        </p:txBody>
      </p:sp>
      <p:sp>
        <p:nvSpPr>
          <p:cNvPr id="43" name="Text 5"/>
          <p:cNvSpPr/>
          <p:nvPr/>
        </p:nvSpPr>
        <p:spPr>
          <a:xfrm>
            <a:off x="609600" y="3009900"/>
            <a:ext cx="72014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Path Cost: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Each move has a uniform cost, usually 1 per move</a:t>
            </a:r>
            <a:endParaRPr lang="en-US" sz="1500" dirty="0"/>
          </a:p>
        </p:txBody>
      </p:sp>
      <p:sp>
        <p:nvSpPr>
          <p:cNvPr id="44" name="Text 6"/>
          <p:cNvSpPr/>
          <p:nvPr/>
        </p:nvSpPr>
        <p:spPr>
          <a:xfrm>
            <a:off x="647700" y="3581400"/>
            <a:ext cx="66445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Solvability Condition</a:t>
            </a:r>
            <a:endParaRPr lang="en-US" sz="1800" dirty="0"/>
          </a:p>
        </p:txBody>
      </p:sp>
      <p:sp>
        <p:nvSpPr>
          <p:cNvPr id="45" name="Text 7"/>
          <p:cNvSpPr/>
          <p:nvPr/>
        </p:nvSpPr>
        <p:spPr>
          <a:xfrm>
            <a:off x="609600" y="4038600"/>
            <a:ext cx="64488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 every initial configuration of the 8-Puzzle is solvable</a:t>
            </a:r>
            <a:endParaRPr lang="en-US" sz="1500" dirty="0"/>
          </a:p>
        </p:txBody>
      </p:sp>
      <p:sp>
        <p:nvSpPr>
          <p:cNvPr id="46" name="Text 8"/>
          <p:cNvSpPr/>
          <p:nvPr/>
        </p:nvSpPr>
        <p:spPr>
          <a:xfrm>
            <a:off x="657225" y="4419600"/>
            <a:ext cx="629215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 8-Puzzle is solvable if and only if the number of inversions is even</a:t>
            </a:r>
            <a:endParaRPr lang="en-US" sz="1500" dirty="0"/>
          </a:p>
        </p:txBody>
      </p:sp>
      <p:sp>
        <p:nvSpPr>
          <p:cNvPr id="47" name="Text 9"/>
          <p:cNvSpPr/>
          <p:nvPr/>
        </p:nvSpPr>
        <p:spPr>
          <a:xfrm>
            <a:off x="609600" y="5067300"/>
            <a:ext cx="633978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 inversion is a pair of tiles where a larger number precedes a smaller number</a:t>
            </a:r>
            <a:endParaRPr lang="en-US" sz="1500" dirty="0"/>
          </a:p>
        </p:txBody>
      </p:sp>
      <p:sp>
        <p:nvSpPr>
          <p:cNvPr id="48" name="Text 10"/>
          <p:cNvSpPr/>
          <p:nvPr/>
        </p:nvSpPr>
        <p:spPr>
          <a:xfrm>
            <a:off x="8736657" y="1162050"/>
            <a:ext cx="200132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States</a:t>
            </a:r>
            <a:endParaRPr lang="en-US" sz="1500" dirty="0"/>
          </a:p>
        </p:txBody>
      </p:sp>
      <p:sp>
        <p:nvSpPr>
          <p:cNvPr id="49" name="Text 11"/>
          <p:cNvSpPr/>
          <p:nvPr/>
        </p:nvSpPr>
        <p:spPr>
          <a:xfrm>
            <a:off x="7867352" y="1504950"/>
            <a:ext cx="615851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400" dirty="0"/>
          </a:p>
        </p:txBody>
      </p:sp>
      <p:sp>
        <p:nvSpPr>
          <p:cNvPr id="50" name="Text 12"/>
          <p:cNvSpPr/>
          <p:nvPr/>
        </p:nvSpPr>
        <p:spPr>
          <a:xfrm>
            <a:off x="8511927" y="1504950"/>
            <a:ext cx="616000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400" dirty="0"/>
          </a:p>
        </p:txBody>
      </p:sp>
      <p:sp>
        <p:nvSpPr>
          <p:cNvPr id="51" name="Text 13"/>
          <p:cNvSpPr/>
          <p:nvPr/>
        </p:nvSpPr>
        <p:spPr>
          <a:xfrm>
            <a:off x="9156353" y="1504950"/>
            <a:ext cx="615851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400" dirty="0"/>
          </a:p>
        </p:txBody>
      </p:sp>
      <p:sp>
        <p:nvSpPr>
          <p:cNvPr id="52" name="Text 14"/>
          <p:cNvSpPr/>
          <p:nvPr/>
        </p:nvSpPr>
        <p:spPr>
          <a:xfrm>
            <a:off x="7867352" y="2149376"/>
            <a:ext cx="615851" cy="616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15"/>
          <p:cNvSpPr/>
          <p:nvPr/>
        </p:nvSpPr>
        <p:spPr>
          <a:xfrm>
            <a:off x="8511927" y="2149376"/>
            <a:ext cx="616000" cy="616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2400" dirty="0"/>
          </a:p>
        </p:txBody>
      </p:sp>
      <p:sp>
        <p:nvSpPr>
          <p:cNvPr id="54" name="Text 16"/>
          <p:cNvSpPr/>
          <p:nvPr/>
        </p:nvSpPr>
        <p:spPr>
          <a:xfrm>
            <a:off x="9156353" y="2149376"/>
            <a:ext cx="615851" cy="616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2400" dirty="0"/>
          </a:p>
        </p:txBody>
      </p:sp>
      <p:sp>
        <p:nvSpPr>
          <p:cNvPr id="55" name="Text 17"/>
          <p:cNvSpPr/>
          <p:nvPr/>
        </p:nvSpPr>
        <p:spPr>
          <a:xfrm>
            <a:off x="7867352" y="2793950"/>
            <a:ext cx="615851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</a:t>
            </a:r>
            <a:endParaRPr lang="en-US" sz="2400" dirty="0"/>
          </a:p>
        </p:txBody>
      </p:sp>
      <p:sp>
        <p:nvSpPr>
          <p:cNvPr id="56" name="Text 18"/>
          <p:cNvSpPr/>
          <p:nvPr/>
        </p:nvSpPr>
        <p:spPr>
          <a:xfrm>
            <a:off x="8511927" y="2793950"/>
            <a:ext cx="616000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</a:t>
            </a:r>
            <a:endParaRPr lang="en-US" sz="2400" dirty="0"/>
          </a:p>
        </p:txBody>
      </p:sp>
      <p:sp>
        <p:nvSpPr>
          <p:cNvPr id="57" name="Text 19"/>
          <p:cNvSpPr/>
          <p:nvPr/>
        </p:nvSpPr>
        <p:spPr>
          <a:xfrm>
            <a:off x="8198540" y="3486150"/>
            <a:ext cx="8388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Goal State</a:t>
            </a:r>
            <a:endParaRPr lang="en-US" sz="1050" dirty="0"/>
          </a:p>
        </p:txBody>
      </p:sp>
      <p:sp>
        <p:nvSpPr>
          <p:cNvPr id="58" name="Text 20"/>
          <p:cNvSpPr/>
          <p:nvPr/>
        </p:nvSpPr>
        <p:spPr>
          <a:xfrm>
            <a:off x="9772352" y="1504950"/>
            <a:ext cx="615851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400" dirty="0"/>
          </a:p>
        </p:txBody>
      </p:sp>
      <p:sp>
        <p:nvSpPr>
          <p:cNvPr id="59" name="Text 21"/>
          <p:cNvSpPr/>
          <p:nvPr/>
        </p:nvSpPr>
        <p:spPr>
          <a:xfrm>
            <a:off x="10416927" y="1504950"/>
            <a:ext cx="616000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400" dirty="0"/>
          </a:p>
        </p:txBody>
      </p:sp>
      <p:sp>
        <p:nvSpPr>
          <p:cNvPr id="60" name="Text 22"/>
          <p:cNvSpPr/>
          <p:nvPr/>
        </p:nvSpPr>
        <p:spPr>
          <a:xfrm>
            <a:off x="11061353" y="1504950"/>
            <a:ext cx="615851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400" dirty="0"/>
          </a:p>
        </p:txBody>
      </p:sp>
      <p:sp>
        <p:nvSpPr>
          <p:cNvPr id="61" name="Text 23"/>
          <p:cNvSpPr/>
          <p:nvPr/>
        </p:nvSpPr>
        <p:spPr>
          <a:xfrm>
            <a:off x="9772352" y="2149376"/>
            <a:ext cx="615851" cy="616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400" dirty="0"/>
          </a:p>
        </p:txBody>
      </p:sp>
      <p:sp>
        <p:nvSpPr>
          <p:cNvPr id="62" name="Text 24"/>
          <p:cNvSpPr/>
          <p:nvPr/>
        </p:nvSpPr>
        <p:spPr>
          <a:xfrm>
            <a:off x="10416927" y="2149376"/>
            <a:ext cx="616000" cy="616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2400" dirty="0"/>
          </a:p>
        </p:txBody>
      </p:sp>
      <p:sp>
        <p:nvSpPr>
          <p:cNvPr id="63" name="Text 25"/>
          <p:cNvSpPr/>
          <p:nvPr/>
        </p:nvSpPr>
        <p:spPr>
          <a:xfrm>
            <a:off x="9772352" y="2793950"/>
            <a:ext cx="615851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</a:t>
            </a:r>
            <a:endParaRPr lang="en-US" sz="2400" dirty="0"/>
          </a:p>
        </p:txBody>
      </p:sp>
      <p:sp>
        <p:nvSpPr>
          <p:cNvPr id="64" name="Text 26"/>
          <p:cNvSpPr/>
          <p:nvPr/>
        </p:nvSpPr>
        <p:spPr>
          <a:xfrm>
            <a:off x="10416927" y="2793950"/>
            <a:ext cx="616000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</a:t>
            </a:r>
            <a:endParaRPr lang="en-US" sz="2400" dirty="0"/>
          </a:p>
        </p:txBody>
      </p:sp>
      <p:sp>
        <p:nvSpPr>
          <p:cNvPr id="65" name="Text 27"/>
          <p:cNvSpPr/>
          <p:nvPr/>
        </p:nvSpPr>
        <p:spPr>
          <a:xfrm>
            <a:off x="11061353" y="2793950"/>
            <a:ext cx="615851" cy="61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2400" dirty="0"/>
          </a:p>
        </p:txBody>
      </p:sp>
      <p:sp>
        <p:nvSpPr>
          <p:cNvPr id="66" name="Text 28"/>
          <p:cNvSpPr/>
          <p:nvPr/>
        </p:nvSpPr>
        <p:spPr>
          <a:xfrm>
            <a:off x="9464888" y="3486150"/>
            <a:ext cx="21161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Solvable (even inversions)</a:t>
            </a:r>
            <a:endParaRPr lang="en-US" sz="1050" dirty="0"/>
          </a:p>
        </p:txBody>
      </p:sp>
      <p:sp>
        <p:nvSpPr>
          <p:cNvPr id="67" name="Text 29"/>
          <p:cNvSpPr/>
          <p:nvPr/>
        </p:nvSpPr>
        <p:spPr>
          <a:xfrm>
            <a:off x="8505943" y="3759628"/>
            <a:ext cx="25328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Solvability Decision</a:t>
            </a:r>
            <a:endParaRPr lang="en-US" sz="1500" dirty="0"/>
          </a:p>
        </p:txBody>
      </p:sp>
      <p:sp>
        <p:nvSpPr>
          <p:cNvPr id="68" name="Text 30"/>
          <p:cNvSpPr/>
          <p:nvPr/>
        </p:nvSpPr>
        <p:spPr>
          <a:xfrm>
            <a:off x="8625319" y="4248727"/>
            <a:ext cx="762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Odd Inversions</a:t>
            </a:r>
            <a:endParaRPr lang="en-US" sz="1350" dirty="0"/>
          </a:p>
        </p:txBody>
      </p:sp>
      <p:sp>
        <p:nvSpPr>
          <p:cNvPr id="69" name="Text 31"/>
          <p:cNvSpPr/>
          <p:nvPr/>
        </p:nvSpPr>
        <p:spPr>
          <a:xfrm>
            <a:off x="9970071" y="4397424"/>
            <a:ext cx="9144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Unsolvable</a:t>
            </a:r>
            <a:endParaRPr lang="en-US" sz="1350" dirty="0"/>
          </a:p>
        </p:txBody>
      </p:sp>
      <p:sp>
        <p:nvSpPr>
          <p:cNvPr id="70" name="Text 32"/>
          <p:cNvSpPr/>
          <p:nvPr/>
        </p:nvSpPr>
        <p:spPr>
          <a:xfrm>
            <a:off x="8594229" y="5276701"/>
            <a:ext cx="762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 Inversions</a:t>
            </a:r>
            <a:endParaRPr lang="en-US" sz="1350" dirty="0"/>
          </a:p>
        </p:txBody>
      </p:sp>
      <p:sp>
        <p:nvSpPr>
          <p:cNvPr id="71" name="Text 33"/>
          <p:cNvSpPr/>
          <p:nvPr/>
        </p:nvSpPr>
        <p:spPr>
          <a:xfrm>
            <a:off x="10118527" y="5391150"/>
            <a:ext cx="9144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Solvable</a:t>
            </a:r>
            <a:endParaRPr lang="en-US" sz="1350" dirty="0"/>
          </a:p>
        </p:txBody>
      </p:sp>
      <p:sp>
        <p:nvSpPr>
          <p:cNvPr id="72" name="Text 34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3/13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14400"/>
            <a:ext cx="56769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104900"/>
            <a:ext cx="51435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2192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14400"/>
            <a:ext cx="5676900" cy="1828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104900"/>
            <a:ext cx="428625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121920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971800"/>
            <a:ext cx="567690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162300"/>
            <a:ext cx="485775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2766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971800"/>
            <a:ext cx="5676900" cy="1828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162300"/>
            <a:ext cx="40005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3276600"/>
            <a:ext cx="1714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5029200"/>
            <a:ext cx="11582400" cy="1219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5372100"/>
            <a:ext cx="45720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54864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553200"/>
            <a:ext cx="12192000" cy="3429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190500" y="114300"/>
            <a:ext cx="1417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the 8-Puzzle Problem is Important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162050" y="1219200"/>
            <a:ext cx="194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Education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495300" y="1752600"/>
            <a:ext cx="52959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Serves as a fundamental problem for teaching core AI concepts, including state-space search and problem-solving strategies.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6981825" y="1219200"/>
            <a:ext cx="274516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Algorithm Testing</a:t>
            </a:r>
            <a:endParaRPr lang="en-US" sz="1800" dirty="0"/>
          </a:p>
        </p:txBody>
      </p:sp>
      <p:sp>
        <p:nvSpPr>
          <p:cNvPr id="24" name="Text 4"/>
          <p:cNvSpPr/>
          <p:nvPr/>
        </p:nvSpPr>
        <p:spPr>
          <a:xfrm>
            <a:off x="6400800" y="1752600"/>
            <a:ext cx="5295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Widely used to evaluate the effectiveness and efficiency of various search algorithms, both uninformed and informed.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1133475" y="3276600"/>
            <a:ext cx="31770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Real-world Modeling</a:t>
            </a:r>
            <a:endParaRPr lang="en-US" sz="1800" dirty="0"/>
          </a:p>
        </p:txBody>
      </p:sp>
      <p:sp>
        <p:nvSpPr>
          <p:cNvPr id="26" name="Text 6"/>
          <p:cNvSpPr/>
          <p:nvPr/>
        </p:nvSpPr>
        <p:spPr>
          <a:xfrm>
            <a:off x="495300" y="3810000"/>
            <a:ext cx="5295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Acts as a simplified model for more intricate real-world challenges, such as route planning, logistics, and robotics.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6953250" y="3276600"/>
            <a:ext cx="3973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Heuristics &amp; Optimization</a:t>
            </a:r>
            <a:endParaRPr lang="en-US" sz="1800" dirty="0"/>
          </a:p>
        </p:txBody>
      </p:sp>
      <p:sp>
        <p:nvSpPr>
          <p:cNvPr id="28" name="Text 8"/>
          <p:cNvSpPr/>
          <p:nvPr/>
        </p:nvSpPr>
        <p:spPr>
          <a:xfrm>
            <a:off x="6400800" y="3810000"/>
            <a:ext cx="52959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a clear context for exploring and understanding the role of heuristic functions in guiding search and optimizing solutions.</a:t>
            </a:r>
            <a:endParaRPr lang="en-US" sz="1350" dirty="0"/>
          </a:p>
        </p:txBody>
      </p:sp>
      <p:sp>
        <p:nvSpPr>
          <p:cNvPr id="29" name="Text 9"/>
          <p:cNvSpPr/>
          <p:nvPr/>
        </p:nvSpPr>
        <p:spPr>
          <a:xfrm>
            <a:off x="1104900" y="5219700"/>
            <a:ext cx="10591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Benchmarking Performance</a:t>
            </a:r>
            <a:endParaRPr lang="en-US" sz="1800" dirty="0"/>
          </a:p>
        </p:txBody>
      </p:sp>
      <p:sp>
        <p:nvSpPr>
          <p:cNvPr id="30" name="Text 10"/>
          <p:cNvSpPr/>
          <p:nvPr/>
        </p:nvSpPr>
        <p:spPr>
          <a:xfrm>
            <a:off x="1104900" y="5524500"/>
            <a:ext cx="10591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for direct comparison of different algorithms based on metrics like optimality, completeness, time complexity, and memory usage.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76200" y="66294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714500"/>
            <a:ext cx="5638800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90500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714500"/>
            <a:ext cx="5638800" cy="2286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9050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4305300"/>
            <a:ext cx="3759101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4419600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301" y="4305300"/>
            <a:ext cx="375925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0601" y="44196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950" y="4305300"/>
            <a:ext cx="3759101" cy="495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42250" y="44196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4953000"/>
            <a:ext cx="3759101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50673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16301" y="4953000"/>
            <a:ext cx="3759250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30601" y="5067300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27950" y="4953000"/>
            <a:ext cx="3759101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42250" y="50673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190500" y="95250"/>
            <a:ext cx="1181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Algorithms Used - Overview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304800" y="876300"/>
            <a:ext cx="115824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Solving the 8-Puzzle Problem necessitates systematic exploration of its state space. AI search algorithms are categorized into two main types: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895350" y="1924050"/>
            <a:ext cx="297626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Uninformed Search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495300" y="2362200"/>
            <a:ext cx="5257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Operates without problem-specific knowledge to guide search.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533400" y="30099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Explores state space systematically</a:t>
            </a:r>
            <a:endParaRPr lang="en-US" sz="1350" dirty="0"/>
          </a:p>
        </p:txBody>
      </p:sp>
      <p:sp>
        <p:nvSpPr>
          <p:cNvPr id="26" name="Text 5"/>
          <p:cNvSpPr/>
          <p:nvPr/>
        </p:nvSpPr>
        <p:spPr>
          <a:xfrm>
            <a:off x="533400" y="32766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heuristic information used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533400" y="35433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 BFS, DFS, UCS, IDS</a:t>
            </a:r>
            <a:endParaRPr lang="en-US" sz="1350" dirty="0"/>
          </a:p>
        </p:txBody>
      </p:sp>
      <p:sp>
        <p:nvSpPr>
          <p:cNvPr id="28" name="Text 7"/>
          <p:cNvSpPr/>
          <p:nvPr/>
        </p:nvSpPr>
        <p:spPr>
          <a:xfrm>
            <a:off x="6838950" y="1924050"/>
            <a:ext cx="256621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Informed Search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6438900" y="2362200"/>
            <a:ext cx="6309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Utilizes heuristic functions to estimate distance to goal.</a:t>
            </a:r>
            <a:endParaRPr lang="en-US" sz="1350" dirty="0"/>
          </a:p>
        </p:txBody>
      </p:sp>
      <p:sp>
        <p:nvSpPr>
          <p:cNvPr id="30" name="Text 9"/>
          <p:cNvSpPr/>
          <p:nvPr/>
        </p:nvSpPr>
        <p:spPr>
          <a:xfrm>
            <a:off x="6477000" y="27432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problem-specific knowledge</a:t>
            </a:r>
            <a:endParaRPr lang="en-US" sz="1350" dirty="0"/>
          </a:p>
        </p:txBody>
      </p:sp>
      <p:sp>
        <p:nvSpPr>
          <p:cNvPr id="31" name="Text 10"/>
          <p:cNvSpPr/>
          <p:nvPr/>
        </p:nvSpPr>
        <p:spPr>
          <a:xfrm>
            <a:off x="6477000" y="30099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More efficient for complex problems</a:t>
            </a:r>
            <a:endParaRPr lang="en-US" sz="1350" dirty="0"/>
          </a:p>
        </p:txBody>
      </p:sp>
      <p:sp>
        <p:nvSpPr>
          <p:cNvPr id="32" name="Text 11"/>
          <p:cNvSpPr/>
          <p:nvPr/>
        </p:nvSpPr>
        <p:spPr>
          <a:xfrm>
            <a:off x="6477000" y="32766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 A*, Hill Climbing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666750" y="4419600"/>
            <a:ext cx="26840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Breadth-First Search</a:t>
            </a:r>
            <a:endParaRPr lang="en-US" sz="1500" dirty="0"/>
          </a:p>
        </p:txBody>
      </p:sp>
      <p:sp>
        <p:nvSpPr>
          <p:cNvPr id="34" name="Text 13"/>
          <p:cNvSpPr/>
          <p:nvPr/>
        </p:nvSpPr>
        <p:spPr>
          <a:xfrm>
            <a:off x="4597301" y="4419600"/>
            <a:ext cx="24324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Depth-First Search</a:t>
            </a:r>
            <a:endParaRPr lang="en-US" sz="1500" dirty="0"/>
          </a:p>
        </p:txBody>
      </p:sp>
      <p:sp>
        <p:nvSpPr>
          <p:cNvPr id="35" name="Text 14"/>
          <p:cNvSpPr/>
          <p:nvPr/>
        </p:nvSpPr>
        <p:spPr>
          <a:xfrm>
            <a:off x="8556575" y="4419600"/>
            <a:ext cx="26485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Uniform Cost Search</a:t>
            </a:r>
            <a:endParaRPr lang="en-US" sz="1500" dirty="0"/>
          </a:p>
        </p:txBody>
      </p:sp>
      <p:sp>
        <p:nvSpPr>
          <p:cNvPr id="36" name="Text 15"/>
          <p:cNvSpPr/>
          <p:nvPr/>
        </p:nvSpPr>
        <p:spPr>
          <a:xfrm>
            <a:off x="685800" y="5067300"/>
            <a:ext cx="25737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Iterative Deepening</a:t>
            </a:r>
            <a:endParaRPr lang="en-US" sz="1500" dirty="0"/>
          </a:p>
        </p:txBody>
      </p:sp>
      <p:sp>
        <p:nvSpPr>
          <p:cNvPr id="37" name="Text 16"/>
          <p:cNvSpPr/>
          <p:nvPr/>
        </p:nvSpPr>
        <p:spPr>
          <a:xfrm>
            <a:off x="4625876" y="5067300"/>
            <a:ext cx="126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A* Search</a:t>
            </a:r>
            <a:endParaRPr lang="en-US" sz="1500" dirty="0"/>
          </a:p>
        </p:txBody>
      </p:sp>
      <p:sp>
        <p:nvSpPr>
          <p:cNvPr id="38" name="Text 17"/>
          <p:cNvSpPr/>
          <p:nvPr/>
        </p:nvSpPr>
        <p:spPr>
          <a:xfrm>
            <a:off x="8508950" y="5067300"/>
            <a:ext cx="16371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Hill Climbing</a:t>
            </a:r>
            <a:endParaRPr lang="en-US" sz="1500" dirty="0"/>
          </a:p>
        </p:txBody>
      </p:sp>
      <p:sp>
        <p:nvSpPr>
          <p:cNvPr id="39" name="Text 18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048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3335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6764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5050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29337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3276600"/>
            <a:ext cx="219075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6195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3962400"/>
            <a:ext cx="21907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3724275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415290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44958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67800" y="37242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67800" y="4152900"/>
            <a:ext cx="104775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67800" y="4495800"/>
            <a:ext cx="104775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190500" y="95250"/>
            <a:ext cx="1181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Breadth-First Search (BFS)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09600" y="8763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Overview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609600" y="1295400"/>
            <a:ext cx="33473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Uninformed search algorithm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609600" y="1638300"/>
            <a:ext cx="36731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Explores all states level by level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419100" y="1981200"/>
            <a:ext cx="37940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queue data structure (FIFO)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609600" y="24765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Properties</a:t>
            </a:r>
            <a:endParaRPr lang="en-US" sz="1800" dirty="0"/>
          </a:p>
        </p:txBody>
      </p:sp>
      <p:sp>
        <p:nvSpPr>
          <p:cNvPr id="26" name="Text 6"/>
          <p:cNvSpPr/>
          <p:nvPr/>
        </p:nvSpPr>
        <p:spPr>
          <a:xfrm>
            <a:off x="609600" y="2895600"/>
            <a:ext cx="23476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Completeness: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Yes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638175" y="3238500"/>
            <a:ext cx="18864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Yes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09600" y="3581400"/>
            <a:ext cx="31555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O(b^d)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638175" y="3924300"/>
            <a:ext cx="330112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Space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O(b^d)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6400800" y="3695700"/>
            <a:ext cx="2819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31" name="Text 11"/>
          <p:cNvSpPr/>
          <p:nvPr/>
        </p:nvSpPr>
        <p:spPr>
          <a:xfrm>
            <a:off x="6343650" y="4114800"/>
            <a:ext cx="29216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Guarantees optimal solution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6343650" y="4457700"/>
            <a:ext cx="17403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 search</a:t>
            </a:r>
            <a:endParaRPr lang="en-US" sz="1350" dirty="0"/>
          </a:p>
        </p:txBody>
      </p:sp>
      <p:sp>
        <p:nvSpPr>
          <p:cNvPr id="33" name="Text 13"/>
          <p:cNvSpPr/>
          <p:nvPr/>
        </p:nvSpPr>
        <p:spPr>
          <a:xfrm>
            <a:off x="9372600" y="3695700"/>
            <a:ext cx="3383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34" name="Text 14"/>
          <p:cNvSpPr/>
          <p:nvPr/>
        </p:nvSpPr>
        <p:spPr>
          <a:xfrm>
            <a:off x="9248775" y="4114800"/>
            <a:ext cx="20841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memory usage</a:t>
            </a:r>
            <a:endParaRPr lang="en-US" sz="1350" dirty="0"/>
          </a:p>
        </p:txBody>
      </p:sp>
      <p:sp>
        <p:nvSpPr>
          <p:cNvPr id="35" name="Text 15"/>
          <p:cNvSpPr/>
          <p:nvPr/>
        </p:nvSpPr>
        <p:spPr>
          <a:xfrm>
            <a:off x="9248775" y="4457700"/>
            <a:ext cx="29578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be slow for large spaces</a:t>
            </a:r>
            <a:endParaRPr lang="en-US" sz="1350" dirty="0"/>
          </a:p>
        </p:txBody>
      </p:sp>
      <p:sp>
        <p:nvSpPr>
          <p:cNvPr id="36" name="Text 16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6/13</a:t>
            </a:r>
            <a:endParaRPr lang="en-US" sz="10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503BB42-9DBB-0B2D-E13B-76AAC663B23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29667" y="735734"/>
            <a:ext cx="2997958" cy="2664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333500"/>
            <a:ext cx="190500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676400"/>
            <a:ext cx="2190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0193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3622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238500"/>
            <a:ext cx="5486400" cy="419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3657600"/>
            <a:ext cx="3685580" cy="419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0380" y="3657600"/>
            <a:ext cx="1800820" cy="419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076700"/>
            <a:ext cx="3685580" cy="419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0380" y="4076700"/>
            <a:ext cx="1800820" cy="419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495800"/>
            <a:ext cx="3685580" cy="419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0380" y="4495800"/>
            <a:ext cx="1800820" cy="419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6764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201930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67800" y="1676400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67800" y="2019300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190500" y="95250"/>
            <a:ext cx="1181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Depth-First Search (DFS)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304800" y="8763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Overview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609600" y="1295400"/>
            <a:ext cx="33473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Uninformed search algorithm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638175" y="1638300"/>
            <a:ext cx="48575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Explores one branch as deeply as possible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609600" y="1981200"/>
            <a:ext cx="49031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Backtracks only when dead end is reached</a:t>
            </a:r>
            <a:endParaRPr lang="en-US" sz="1500" dirty="0"/>
          </a:p>
        </p:txBody>
      </p:sp>
      <p:sp>
        <p:nvSpPr>
          <p:cNvPr id="30" name="Text 5"/>
          <p:cNvSpPr/>
          <p:nvPr/>
        </p:nvSpPr>
        <p:spPr>
          <a:xfrm>
            <a:off x="609600" y="2324100"/>
            <a:ext cx="36806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stack data structure (LIFO)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304800" y="28194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Properties</a:t>
            </a:r>
            <a:endParaRPr lang="en-US" sz="1800" dirty="0"/>
          </a:p>
        </p:txBody>
      </p:sp>
      <p:sp>
        <p:nvSpPr>
          <p:cNvPr id="32" name="Text 7"/>
          <p:cNvSpPr/>
          <p:nvPr/>
        </p:nvSpPr>
        <p:spPr>
          <a:xfrm>
            <a:off x="457200" y="3238500"/>
            <a:ext cx="368558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Characteristic</a:t>
            </a:r>
            <a:endParaRPr lang="en-US" sz="1350" dirty="0"/>
          </a:p>
        </p:txBody>
      </p:sp>
      <p:sp>
        <p:nvSpPr>
          <p:cNvPr id="33" name="Text 8"/>
          <p:cNvSpPr/>
          <p:nvPr/>
        </p:nvSpPr>
        <p:spPr>
          <a:xfrm>
            <a:off x="4142780" y="3238500"/>
            <a:ext cx="18008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457200" y="3657600"/>
            <a:ext cx="368558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Completeness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4142780" y="3657600"/>
            <a:ext cx="18008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</a:t>
            </a:r>
            <a:endParaRPr lang="en-US" sz="1350" dirty="0"/>
          </a:p>
        </p:txBody>
      </p:sp>
      <p:sp>
        <p:nvSpPr>
          <p:cNvPr id="36" name="Text 11"/>
          <p:cNvSpPr/>
          <p:nvPr/>
        </p:nvSpPr>
        <p:spPr>
          <a:xfrm>
            <a:off x="457200" y="4076700"/>
            <a:ext cx="368558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Optimality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4142780" y="4076700"/>
            <a:ext cx="18008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</a:t>
            </a:r>
            <a:endParaRPr lang="en-US" sz="1350" dirty="0"/>
          </a:p>
        </p:txBody>
      </p:sp>
      <p:sp>
        <p:nvSpPr>
          <p:cNvPr id="38" name="Text 13"/>
          <p:cNvSpPr/>
          <p:nvPr/>
        </p:nvSpPr>
        <p:spPr>
          <a:xfrm>
            <a:off x="457200" y="4495800"/>
            <a:ext cx="368558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Complexity</a:t>
            </a:r>
            <a:endParaRPr lang="en-US" sz="1350" dirty="0"/>
          </a:p>
        </p:txBody>
      </p:sp>
      <p:sp>
        <p:nvSpPr>
          <p:cNvPr id="39" name="Text 14"/>
          <p:cNvSpPr/>
          <p:nvPr/>
        </p:nvSpPr>
        <p:spPr>
          <a:xfrm>
            <a:off x="4142780" y="4495800"/>
            <a:ext cx="18008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</a:t>
            </a:r>
            <a:r>
              <a:rPr lang="en-US" sz="135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1350" dirty="0"/>
          </a:p>
        </p:txBody>
      </p:sp>
      <p:sp>
        <p:nvSpPr>
          <p:cNvPr id="40" name="Text 15"/>
          <p:cNvSpPr/>
          <p:nvPr/>
        </p:nvSpPr>
        <p:spPr>
          <a:xfrm>
            <a:off x="457200" y="4914900"/>
            <a:ext cx="368558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Space Complexity</a:t>
            </a:r>
            <a:endParaRPr lang="en-US" sz="1350" dirty="0"/>
          </a:p>
        </p:txBody>
      </p:sp>
      <p:sp>
        <p:nvSpPr>
          <p:cNvPr id="41" name="Text 16"/>
          <p:cNvSpPr/>
          <p:nvPr/>
        </p:nvSpPr>
        <p:spPr>
          <a:xfrm>
            <a:off x="4142780" y="4914900"/>
            <a:ext cx="18008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O(b·m)</a:t>
            </a:r>
            <a:endParaRPr lang="en-US" sz="1350" dirty="0"/>
          </a:p>
        </p:txBody>
      </p:sp>
      <p:sp>
        <p:nvSpPr>
          <p:cNvPr id="42" name="Text 17"/>
          <p:cNvSpPr/>
          <p:nvPr/>
        </p:nvSpPr>
        <p:spPr>
          <a:xfrm>
            <a:off x="6096000" y="876300"/>
            <a:ext cx="5791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Pros &amp; Cons</a:t>
            </a:r>
            <a:endParaRPr lang="en-US" sz="1800" dirty="0"/>
          </a:p>
        </p:txBody>
      </p:sp>
      <p:sp>
        <p:nvSpPr>
          <p:cNvPr id="43" name="Text 18"/>
          <p:cNvSpPr/>
          <p:nvPr/>
        </p:nvSpPr>
        <p:spPr>
          <a:xfrm>
            <a:off x="6096000" y="1295400"/>
            <a:ext cx="281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44" name="Text 19"/>
          <p:cNvSpPr/>
          <p:nvPr/>
        </p:nvSpPr>
        <p:spPr>
          <a:xfrm>
            <a:off x="6343650" y="1638300"/>
            <a:ext cx="23392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More memory-efficient</a:t>
            </a:r>
            <a:endParaRPr lang="en-US" sz="1350" dirty="0"/>
          </a:p>
        </p:txBody>
      </p:sp>
      <p:sp>
        <p:nvSpPr>
          <p:cNvPr id="45" name="Text 20"/>
          <p:cNvSpPr/>
          <p:nvPr/>
        </p:nvSpPr>
        <p:spPr>
          <a:xfrm>
            <a:off x="6343650" y="1981200"/>
            <a:ext cx="22367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Quick solution if deep</a:t>
            </a:r>
            <a:endParaRPr lang="en-US" sz="1350" dirty="0"/>
          </a:p>
        </p:txBody>
      </p:sp>
      <p:sp>
        <p:nvSpPr>
          <p:cNvPr id="46" name="Text 21"/>
          <p:cNvSpPr/>
          <p:nvPr/>
        </p:nvSpPr>
        <p:spPr>
          <a:xfrm>
            <a:off x="9067800" y="1295400"/>
            <a:ext cx="3383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47" name="Text 22"/>
          <p:cNvSpPr/>
          <p:nvPr/>
        </p:nvSpPr>
        <p:spPr>
          <a:xfrm>
            <a:off x="9315450" y="1638300"/>
            <a:ext cx="22506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guarantee optimal</a:t>
            </a:r>
            <a:endParaRPr lang="en-US" sz="1350" dirty="0"/>
          </a:p>
        </p:txBody>
      </p:sp>
      <p:sp>
        <p:nvSpPr>
          <p:cNvPr id="48" name="Text 23"/>
          <p:cNvSpPr/>
          <p:nvPr/>
        </p:nvSpPr>
        <p:spPr>
          <a:xfrm>
            <a:off x="9315450" y="1981200"/>
            <a:ext cx="16786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get trapped</a:t>
            </a:r>
            <a:endParaRPr lang="en-US" sz="1350" dirty="0"/>
          </a:p>
        </p:txBody>
      </p:sp>
      <p:sp>
        <p:nvSpPr>
          <p:cNvPr id="49" name="Text 24"/>
          <p:cNvSpPr/>
          <p:nvPr/>
        </p:nvSpPr>
        <p:spPr>
          <a:xfrm>
            <a:off x="11137702" y="5638800"/>
            <a:ext cx="7165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0" name="Text 25"/>
          <p:cNvSpPr/>
          <p:nvPr/>
        </p:nvSpPr>
        <p:spPr>
          <a:xfrm>
            <a:off x="11137702" y="5867400"/>
            <a:ext cx="7020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1" name="Text 26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7/13</a:t>
            </a:r>
            <a:endParaRPr lang="en-US" sz="10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787AC777-2D64-8635-2579-6DC4F934A9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3414" y="2849501"/>
            <a:ext cx="3680639" cy="36009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46469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048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333500"/>
            <a:ext cx="9525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943100"/>
            <a:ext cx="9525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552700"/>
            <a:ext cx="952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3051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73380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40767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441960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762500"/>
            <a:ext cx="219075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3409950"/>
            <a:ext cx="2819400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3600450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3943350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4514850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67800" y="3409950"/>
            <a:ext cx="2819400" cy="1752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0200" y="360045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0200" y="3943350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0200" y="4248150"/>
            <a:ext cx="1714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190500" y="95250"/>
            <a:ext cx="1181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Uniform Cost Search (UCS)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609600" y="8763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Overview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476250" y="1295400"/>
            <a:ext cx="5314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Uninformed search algorithm that expands nodes based on lowest cumulative path cost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476250" y="1905000"/>
            <a:ext cx="5314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a priority queue to manage nodes, exploring minimum cost paths first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476250" y="2514600"/>
            <a:ext cx="5314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8-Puzzle with uniform move costs, behaves identically to BFS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609600" y="32766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Properties</a:t>
            </a:r>
            <a:endParaRPr lang="en-US" sz="1800" dirty="0"/>
          </a:p>
        </p:txBody>
      </p:sp>
      <p:sp>
        <p:nvSpPr>
          <p:cNvPr id="30" name="Text 6"/>
          <p:cNvSpPr/>
          <p:nvPr/>
        </p:nvSpPr>
        <p:spPr>
          <a:xfrm>
            <a:off x="571500" y="3695700"/>
            <a:ext cx="62204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Completeness: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Yes, guarantees solution if one exists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571500" y="4038600"/>
            <a:ext cx="52229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Yes, finds least-cost path to goal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571500" y="4381500"/>
            <a:ext cx="40003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</a:t>
            </a:r>
            <a:r>
              <a:rPr lang="en-US" sz="150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600075" y="4724400"/>
            <a:ext cx="41458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Space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</a:t>
            </a:r>
            <a:r>
              <a:rPr lang="en-US" sz="150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6515100" y="3562350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6496050" y="3905250"/>
            <a:ext cx="2266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Guaranteed optimal solution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6496050" y="4476750"/>
            <a:ext cx="2266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Complete, finds solution if exists</a:t>
            </a: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9486900" y="3562350"/>
            <a:ext cx="3017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38" name="Text 14"/>
          <p:cNvSpPr/>
          <p:nvPr/>
        </p:nvSpPr>
        <p:spPr>
          <a:xfrm>
            <a:off x="9467850" y="3905250"/>
            <a:ext cx="24465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Computational expense</a:t>
            </a:r>
            <a:endParaRPr lang="en-US" sz="1350" dirty="0"/>
          </a:p>
        </p:txBody>
      </p:sp>
      <p:sp>
        <p:nvSpPr>
          <p:cNvPr id="39" name="Text 15"/>
          <p:cNvSpPr/>
          <p:nvPr/>
        </p:nvSpPr>
        <p:spPr>
          <a:xfrm>
            <a:off x="9467850" y="4210050"/>
            <a:ext cx="25122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Explores in all directions</a:t>
            </a:r>
            <a:endParaRPr lang="en-US" sz="1350" dirty="0"/>
          </a:p>
        </p:txBody>
      </p:sp>
      <p:sp>
        <p:nvSpPr>
          <p:cNvPr id="40" name="Text 16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8/13</a:t>
            </a:r>
            <a:endParaRPr lang="en-US" sz="10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E08AD51-E062-A40F-04F5-71699BD697A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40808" y="666276"/>
            <a:ext cx="4177783" cy="26293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904875"/>
            <a:ext cx="20002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3335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7145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0955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5812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009900"/>
            <a:ext cx="219075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390900"/>
            <a:ext cx="219075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771900"/>
            <a:ext cx="219075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152900"/>
            <a:ext cx="21907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7100" y="1336964"/>
            <a:ext cx="257175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5029200"/>
            <a:ext cx="2819400" cy="11811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5219700"/>
            <a:ext cx="19050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55626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58674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7800" y="5029200"/>
            <a:ext cx="2819400" cy="1181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20200" y="5219700"/>
            <a:ext cx="190500" cy="1905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0200" y="5562600"/>
            <a:ext cx="9525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0200" y="5867400"/>
            <a:ext cx="9525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190500" y="95250"/>
            <a:ext cx="1417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Iterative Deepening Search (IDS)</a:t>
            </a:r>
            <a:endParaRPr lang="en-US" sz="2700" dirty="0"/>
          </a:p>
        </p:txBody>
      </p:sp>
      <p:sp>
        <p:nvSpPr>
          <p:cNvPr id="37" name="Text 1"/>
          <p:cNvSpPr/>
          <p:nvPr/>
        </p:nvSpPr>
        <p:spPr>
          <a:xfrm>
            <a:off x="581025" y="8763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8" name="Text 2"/>
          <p:cNvSpPr/>
          <p:nvPr/>
        </p:nvSpPr>
        <p:spPr>
          <a:xfrm>
            <a:off x="571500" y="1295400"/>
            <a:ext cx="61398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Combines BFS optimality with DFS memory efficiency</a:t>
            </a:r>
            <a:endParaRPr lang="en-US" sz="1500" dirty="0"/>
          </a:p>
        </p:txBody>
      </p:sp>
      <p:sp>
        <p:nvSpPr>
          <p:cNvPr id="39" name="Text 3"/>
          <p:cNvSpPr/>
          <p:nvPr/>
        </p:nvSpPr>
        <p:spPr>
          <a:xfrm>
            <a:off x="571500" y="1676400"/>
            <a:ext cx="52813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Performs series of depth-limited DFS searches</a:t>
            </a:r>
            <a:endParaRPr lang="en-US" sz="1500" dirty="0"/>
          </a:p>
        </p:txBody>
      </p:sp>
      <p:sp>
        <p:nvSpPr>
          <p:cNvPr id="40" name="Text 4"/>
          <p:cNvSpPr/>
          <p:nvPr/>
        </p:nvSpPr>
        <p:spPr>
          <a:xfrm>
            <a:off x="571500" y="2057400"/>
            <a:ext cx="48182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Increments depth limit with each iteration</a:t>
            </a:r>
            <a:endParaRPr lang="en-US" sz="1500" dirty="0"/>
          </a:p>
        </p:txBody>
      </p:sp>
      <p:sp>
        <p:nvSpPr>
          <p:cNvPr id="41" name="Text 5"/>
          <p:cNvSpPr/>
          <p:nvPr/>
        </p:nvSpPr>
        <p:spPr>
          <a:xfrm>
            <a:off x="609600" y="25527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Properties</a:t>
            </a:r>
            <a:endParaRPr lang="en-US" sz="1800" dirty="0"/>
          </a:p>
        </p:txBody>
      </p:sp>
      <p:sp>
        <p:nvSpPr>
          <p:cNvPr id="42" name="Text 6"/>
          <p:cNvSpPr/>
          <p:nvPr/>
        </p:nvSpPr>
        <p:spPr>
          <a:xfrm>
            <a:off x="600075" y="2971800"/>
            <a:ext cx="45634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Completeness: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Yes, if a solution exists</a:t>
            </a:r>
            <a:endParaRPr lang="en-US" sz="1500" dirty="0"/>
          </a:p>
        </p:txBody>
      </p:sp>
      <p:sp>
        <p:nvSpPr>
          <p:cNvPr id="43" name="Text 7"/>
          <p:cNvSpPr/>
          <p:nvPr/>
        </p:nvSpPr>
        <p:spPr>
          <a:xfrm>
            <a:off x="600075" y="3352800"/>
            <a:ext cx="4538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Yes, for uniform step costs</a:t>
            </a:r>
            <a:endParaRPr lang="en-US" sz="1500" dirty="0"/>
          </a:p>
        </p:txBody>
      </p:sp>
      <p:sp>
        <p:nvSpPr>
          <p:cNvPr id="44" name="Text 8"/>
          <p:cNvSpPr/>
          <p:nvPr/>
        </p:nvSpPr>
        <p:spPr>
          <a:xfrm>
            <a:off x="600075" y="3733800"/>
            <a:ext cx="29280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</a:t>
            </a:r>
            <a:r>
              <a:rPr lang="en-US" sz="150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1500" dirty="0"/>
          </a:p>
        </p:txBody>
      </p:sp>
      <p:sp>
        <p:nvSpPr>
          <p:cNvPr id="45" name="Text 9"/>
          <p:cNvSpPr/>
          <p:nvPr/>
        </p:nvSpPr>
        <p:spPr>
          <a:xfrm>
            <a:off x="600075" y="4114800"/>
            <a:ext cx="31821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Space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O(b·d)</a:t>
            </a:r>
            <a:endParaRPr lang="en-US" sz="1500" dirty="0"/>
          </a:p>
        </p:txBody>
      </p:sp>
      <p:sp>
        <p:nvSpPr>
          <p:cNvPr id="46" name="Text 10"/>
          <p:cNvSpPr/>
          <p:nvPr/>
        </p:nvSpPr>
        <p:spPr>
          <a:xfrm>
            <a:off x="7747843" y="1265382"/>
            <a:ext cx="5791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IDS Works</a:t>
            </a:r>
            <a:endParaRPr lang="en-US" sz="1800" dirty="0"/>
          </a:p>
        </p:txBody>
      </p:sp>
      <p:sp>
        <p:nvSpPr>
          <p:cNvPr id="48" name="Text 12"/>
          <p:cNvSpPr/>
          <p:nvPr/>
        </p:nvSpPr>
        <p:spPr>
          <a:xfrm>
            <a:off x="11778109" y="1552575"/>
            <a:ext cx="64525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endParaRPr lang="en-US" sz="1050" dirty="0"/>
          </a:p>
        </p:txBody>
      </p:sp>
      <p:sp>
        <p:nvSpPr>
          <p:cNvPr id="49" name="Text 13"/>
          <p:cNvSpPr/>
          <p:nvPr/>
        </p:nvSpPr>
        <p:spPr>
          <a:xfrm>
            <a:off x="6227415" y="20955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200" dirty="0"/>
          </a:p>
        </p:txBody>
      </p:sp>
      <p:sp>
        <p:nvSpPr>
          <p:cNvPr id="50" name="Text 14"/>
          <p:cNvSpPr/>
          <p:nvPr/>
        </p:nvSpPr>
        <p:spPr>
          <a:xfrm>
            <a:off x="6609308" y="20955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200" dirty="0"/>
          </a:p>
        </p:txBody>
      </p:sp>
      <p:sp>
        <p:nvSpPr>
          <p:cNvPr id="51" name="Text 15"/>
          <p:cNvSpPr/>
          <p:nvPr/>
        </p:nvSpPr>
        <p:spPr>
          <a:xfrm>
            <a:off x="6992541" y="20955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200" dirty="0"/>
          </a:p>
        </p:txBody>
      </p:sp>
      <p:sp>
        <p:nvSpPr>
          <p:cNvPr id="52" name="Text 16"/>
          <p:cNvSpPr/>
          <p:nvPr/>
        </p:nvSpPr>
        <p:spPr>
          <a:xfrm>
            <a:off x="11778109" y="2238375"/>
            <a:ext cx="64525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endParaRPr lang="en-US" sz="1050" dirty="0"/>
          </a:p>
        </p:txBody>
      </p:sp>
      <p:sp>
        <p:nvSpPr>
          <p:cNvPr id="53" name="Text 17"/>
          <p:cNvSpPr/>
          <p:nvPr/>
        </p:nvSpPr>
        <p:spPr>
          <a:xfrm>
            <a:off x="6223248" y="27813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200" dirty="0"/>
          </a:p>
        </p:txBody>
      </p:sp>
      <p:sp>
        <p:nvSpPr>
          <p:cNvPr id="54" name="Text 18"/>
          <p:cNvSpPr/>
          <p:nvPr/>
        </p:nvSpPr>
        <p:spPr>
          <a:xfrm>
            <a:off x="6615410" y="27813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</a:t>
            </a:r>
            <a:endParaRPr lang="en-US" sz="1200" dirty="0"/>
          </a:p>
        </p:txBody>
      </p:sp>
      <p:sp>
        <p:nvSpPr>
          <p:cNvPr id="55" name="Text 19"/>
          <p:cNvSpPr/>
          <p:nvPr/>
        </p:nvSpPr>
        <p:spPr>
          <a:xfrm>
            <a:off x="6996410" y="27813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</a:t>
            </a:r>
            <a:endParaRPr lang="en-US" sz="1200" dirty="0"/>
          </a:p>
        </p:txBody>
      </p:sp>
      <p:sp>
        <p:nvSpPr>
          <p:cNvPr id="56" name="Text 20"/>
          <p:cNvSpPr/>
          <p:nvPr/>
        </p:nvSpPr>
        <p:spPr>
          <a:xfrm>
            <a:off x="7366843" y="27813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</a:t>
            </a:r>
            <a:endParaRPr lang="en-US" sz="1200" dirty="0"/>
          </a:p>
        </p:txBody>
      </p:sp>
      <p:sp>
        <p:nvSpPr>
          <p:cNvPr id="57" name="Text 21"/>
          <p:cNvSpPr/>
          <p:nvPr/>
        </p:nvSpPr>
        <p:spPr>
          <a:xfrm>
            <a:off x="11778109" y="2924175"/>
            <a:ext cx="64525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endParaRPr lang="en-US" sz="1050" dirty="0"/>
          </a:p>
        </p:txBody>
      </p:sp>
      <p:sp>
        <p:nvSpPr>
          <p:cNvPr id="58" name="Text 22"/>
          <p:cNvSpPr/>
          <p:nvPr/>
        </p:nvSpPr>
        <p:spPr>
          <a:xfrm>
            <a:off x="6515100" y="5181600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59" name="Text 23"/>
          <p:cNvSpPr/>
          <p:nvPr/>
        </p:nvSpPr>
        <p:spPr>
          <a:xfrm>
            <a:off x="6477000" y="5524500"/>
            <a:ext cx="14969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like BFS</a:t>
            </a:r>
            <a:endParaRPr lang="en-US" sz="1200" dirty="0"/>
          </a:p>
        </p:txBody>
      </p:sp>
      <p:sp>
        <p:nvSpPr>
          <p:cNvPr id="60" name="Text 24"/>
          <p:cNvSpPr/>
          <p:nvPr/>
        </p:nvSpPr>
        <p:spPr>
          <a:xfrm>
            <a:off x="6477000" y="5829300"/>
            <a:ext cx="23360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Memory-efficient like DFS</a:t>
            </a:r>
            <a:endParaRPr lang="en-US" sz="1200" dirty="0"/>
          </a:p>
        </p:txBody>
      </p:sp>
      <p:sp>
        <p:nvSpPr>
          <p:cNvPr id="61" name="Text 25"/>
          <p:cNvSpPr/>
          <p:nvPr/>
        </p:nvSpPr>
        <p:spPr>
          <a:xfrm>
            <a:off x="9486900" y="5181600"/>
            <a:ext cx="3017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62" name="Text 26"/>
          <p:cNvSpPr/>
          <p:nvPr/>
        </p:nvSpPr>
        <p:spPr>
          <a:xfrm>
            <a:off x="9391650" y="5524500"/>
            <a:ext cx="23051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Redundant computations</a:t>
            </a:r>
            <a:endParaRPr lang="en-US" sz="1200" dirty="0"/>
          </a:p>
        </p:txBody>
      </p:sp>
      <p:sp>
        <p:nvSpPr>
          <p:cNvPr id="63" name="Text 27"/>
          <p:cNvSpPr/>
          <p:nvPr/>
        </p:nvSpPr>
        <p:spPr>
          <a:xfrm>
            <a:off x="9391650" y="5829300"/>
            <a:ext cx="21711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be slower than BFS</a:t>
            </a:r>
            <a:endParaRPr lang="en-US" sz="1200" dirty="0"/>
          </a:p>
        </p:txBody>
      </p:sp>
      <p:sp>
        <p:nvSpPr>
          <p:cNvPr id="64" name="Text 28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9/13</a:t>
            </a:r>
            <a:endParaRPr lang="en-US" sz="105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E940C91-EAB0-C275-5FC7-D3722E62B6B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34730" y="1621517"/>
            <a:ext cx="6457270" cy="21671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209800"/>
            <a:ext cx="21907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895600"/>
            <a:ext cx="1428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3147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7338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441960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5425" y="49149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678" y="49149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05988" y="49149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190500" y="95250"/>
            <a:ext cx="1417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A* Search with Manhattan Distance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676275" y="2171700"/>
            <a:ext cx="51149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Informed search algorithm that balances actual cost and estimated remaining cost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600075" y="2857500"/>
            <a:ext cx="52199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evaluation function: </a:t>
            </a: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f(n) = g(n) + h(n)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647700" y="3276600"/>
            <a:ext cx="4320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g(n)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Actual cost from start to node n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647700" y="3695700"/>
            <a:ext cx="5143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h(n)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Manhattan Distance heuristic (sum of horizontal and vertical distances)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647700" y="4381500"/>
            <a:ext cx="5143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Properties: Complete, optimal, and more efficient than uninformed searches</a:t>
            </a:r>
            <a:b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</a:b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</a:t>
            </a:r>
            <a:r>
              <a:rPr lang="en-US" sz="150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 , </a:t>
            </a: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Space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</a:t>
            </a:r>
            <a:r>
              <a:rPr lang="en-US" sz="150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1500" dirty="0"/>
          </a:p>
          <a:p>
            <a:pPr>
              <a:lnSpc>
                <a:spcPts val="2100"/>
              </a:lnSpc>
            </a:pP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endParaRPr lang="en-US" sz="1500" dirty="0">
              <a:solidFill>
                <a:srgbClr val="33333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 algn="l">
              <a:lnSpc>
                <a:spcPts val="2100"/>
              </a:lnSpc>
              <a:buNone/>
            </a:pPr>
            <a:endParaRPr lang="en-US" sz="1500" dirty="0">
              <a:solidFill>
                <a:srgbClr val="33333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8258324" y="2000250"/>
            <a:ext cx="603200" cy="603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8911977" y="2000250"/>
            <a:ext cx="603200" cy="603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800" dirty="0"/>
          </a:p>
        </p:txBody>
      </p:sp>
      <p:sp>
        <p:nvSpPr>
          <p:cNvPr id="30" name="Text 8"/>
          <p:cNvSpPr/>
          <p:nvPr/>
        </p:nvSpPr>
        <p:spPr>
          <a:xfrm>
            <a:off x="9562802" y="2000250"/>
            <a:ext cx="603200" cy="603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800" dirty="0"/>
          </a:p>
        </p:txBody>
      </p:sp>
      <p:sp>
        <p:nvSpPr>
          <p:cNvPr id="31" name="Text 9"/>
          <p:cNvSpPr/>
          <p:nvPr/>
        </p:nvSpPr>
        <p:spPr>
          <a:xfrm>
            <a:off x="8261152" y="2651075"/>
            <a:ext cx="603200" cy="603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800" dirty="0"/>
          </a:p>
        </p:txBody>
      </p:sp>
      <p:sp>
        <p:nvSpPr>
          <p:cNvPr id="32" name="Text 10"/>
          <p:cNvSpPr/>
          <p:nvPr/>
        </p:nvSpPr>
        <p:spPr>
          <a:xfrm>
            <a:off x="8903345" y="2651075"/>
            <a:ext cx="603200" cy="603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9562802" y="2651075"/>
            <a:ext cx="603200" cy="603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800" dirty="0"/>
          </a:p>
        </p:txBody>
      </p:sp>
      <p:sp>
        <p:nvSpPr>
          <p:cNvPr id="36" name="Text 14"/>
          <p:cNvSpPr/>
          <p:nvPr/>
        </p:nvSpPr>
        <p:spPr>
          <a:xfrm>
            <a:off x="9548515" y="3301901"/>
            <a:ext cx="603200" cy="603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</a:t>
            </a:r>
            <a:endParaRPr lang="en-US" sz="1800" dirty="0"/>
          </a:p>
        </p:txBody>
      </p:sp>
      <p:sp>
        <p:nvSpPr>
          <p:cNvPr id="37" name="Text 15"/>
          <p:cNvSpPr/>
          <p:nvPr/>
        </p:nvSpPr>
        <p:spPr>
          <a:xfrm>
            <a:off x="6552545" y="4133850"/>
            <a:ext cx="48781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of A* Search with Manhattan Distance</a:t>
            </a:r>
            <a:endParaRPr lang="en-US" sz="1350" dirty="0"/>
          </a:p>
        </p:txBody>
      </p:sp>
      <p:sp>
        <p:nvSpPr>
          <p:cNvPr id="38" name="Text 16"/>
          <p:cNvSpPr/>
          <p:nvPr/>
        </p:nvSpPr>
        <p:spPr>
          <a:xfrm>
            <a:off x="6959054" y="4476750"/>
            <a:ext cx="40650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f(n) = g(n) + h(n)</a:t>
            </a:r>
            <a:endParaRPr lang="en-US" sz="1350" dirty="0"/>
          </a:p>
        </p:txBody>
      </p:sp>
      <p:sp>
        <p:nvSpPr>
          <p:cNvPr id="39" name="Text 17"/>
          <p:cNvSpPr/>
          <p:nvPr/>
        </p:nvSpPr>
        <p:spPr>
          <a:xfrm>
            <a:off x="7204025" y="4895850"/>
            <a:ext cx="134070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g(n): Actual Cost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8702278" y="4895850"/>
            <a:ext cx="114157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h(n): Heuristic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10034588" y="4895850"/>
            <a:ext cx="11678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f(n): Total Cost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10/13</a:t>
            </a:r>
            <a:endParaRPr lang="en-US" sz="10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9072F71-C51F-2C9F-54C6-A0429579ACF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753918"/>
            <a:ext cx="4677400" cy="32546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0100"/>
            <a:ext cx="5638800" cy="1562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9429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476500"/>
            <a:ext cx="5638800" cy="1562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26193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" y="4152900"/>
            <a:ext cx="5638800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4295775"/>
            <a:ext cx="22860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190500" y="95250"/>
            <a:ext cx="1181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Hill Climbing Algorithm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647700" y="9144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1" name="Text 2"/>
          <p:cNvSpPr/>
          <p:nvPr/>
        </p:nvSpPr>
        <p:spPr>
          <a:xfrm>
            <a:off x="457200" y="12954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Local Search Algorithm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457200" y="16383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Greedy approach: moves to best neighbor</a:t>
            </a:r>
            <a:endParaRPr lang="en-US" sz="1500" dirty="0"/>
          </a:p>
        </p:txBody>
      </p:sp>
      <p:sp>
        <p:nvSpPr>
          <p:cNvPr id="33" name="Text 4"/>
          <p:cNvSpPr/>
          <p:nvPr/>
        </p:nvSpPr>
        <p:spPr>
          <a:xfrm>
            <a:off x="457200" y="19812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backtracking</a:t>
            </a:r>
            <a:endParaRPr lang="en-US" sz="1500" dirty="0"/>
          </a:p>
        </p:txBody>
      </p:sp>
      <p:sp>
        <p:nvSpPr>
          <p:cNvPr id="34" name="Text 5"/>
          <p:cNvSpPr/>
          <p:nvPr/>
        </p:nvSpPr>
        <p:spPr>
          <a:xfrm>
            <a:off x="647700" y="25908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35" name="Text 6"/>
          <p:cNvSpPr/>
          <p:nvPr/>
        </p:nvSpPr>
        <p:spPr>
          <a:xfrm>
            <a:off x="457200" y="29718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Local Optimal: Gets stuck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457200" y="33147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Plateaus: Flat regions</a:t>
            </a:r>
            <a:endParaRPr lang="en-US" sz="1500" dirty="0"/>
          </a:p>
        </p:txBody>
      </p:sp>
      <p:sp>
        <p:nvSpPr>
          <p:cNvPr id="37" name="Text 8"/>
          <p:cNvSpPr/>
          <p:nvPr/>
        </p:nvSpPr>
        <p:spPr>
          <a:xfrm>
            <a:off x="457200" y="36576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Ridges: Local optimal requiring multiple moves</a:t>
            </a:r>
            <a:endParaRPr lang="en-US" sz="1500" dirty="0"/>
          </a:p>
        </p:txBody>
      </p:sp>
      <p:sp>
        <p:nvSpPr>
          <p:cNvPr id="38" name="Text 9"/>
          <p:cNvSpPr/>
          <p:nvPr/>
        </p:nvSpPr>
        <p:spPr>
          <a:xfrm>
            <a:off x="647700" y="42672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Properties</a:t>
            </a:r>
            <a:endParaRPr lang="en-US" sz="1800" dirty="0"/>
          </a:p>
        </p:txBody>
      </p:sp>
      <p:sp>
        <p:nvSpPr>
          <p:cNvPr id="39" name="Text 10"/>
          <p:cNvSpPr/>
          <p:nvPr/>
        </p:nvSpPr>
        <p:spPr>
          <a:xfrm>
            <a:off x="457200" y="46482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Completeness: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No</a:t>
            </a:r>
            <a:endParaRPr lang="en-US" sz="1500" dirty="0"/>
          </a:p>
        </p:txBody>
      </p:sp>
      <p:sp>
        <p:nvSpPr>
          <p:cNvPr id="40" name="Text 11"/>
          <p:cNvSpPr/>
          <p:nvPr/>
        </p:nvSpPr>
        <p:spPr>
          <a:xfrm>
            <a:off x="457200" y="49911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No</a:t>
            </a:r>
            <a:endParaRPr lang="en-US" sz="1500" dirty="0"/>
          </a:p>
        </p:txBody>
      </p:sp>
      <p:sp>
        <p:nvSpPr>
          <p:cNvPr id="41" name="Text 12"/>
          <p:cNvSpPr/>
          <p:nvPr/>
        </p:nvSpPr>
        <p:spPr>
          <a:xfrm>
            <a:off x="457200" y="53340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Complexity: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600" dirty="0"/>
              <a:t>Depends on the h(n) , branching factor</a:t>
            </a:r>
            <a:endParaRPr lang="en-US" sz="1500" dirty="0"/>
          </a:p>
        </p:txBody>
      </p:sp>
      <p:sp>
        <p:nvSpPr>
          <p:cNvPr id="42" name="Text 13"/>
          <p:cNvSpPr/>
          <p:nvPr/>
        </p:nvSpPr>
        <p:spPr>
          <a:xfrm>
            <a:off x="457200" y="56769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Memory Usage: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O(1)</a:t>
            </a:r>
            <a:endParaRPr lang="en-US" sz="1500" dirty="0"/>
          </a:p>
        </p:txBody>
      </p:sp>
      <p:sp>
        <p:nvSpPr>
          <p:cNvPr id="44" name="Text 15"/>
          <p:cNvSpPr/>
          <p:nvPr/>
        </p:nvSpPr>
        <p:spPr>
          <a:xfrm>
            <a:off x="8494365" y="3200400"/>
            <a:ext cx="47625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10266015" y="2247900"/>
            <a:ext cx="5715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9447163" y="3200400"/>
            <a:ext cx="47625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6587609" y="4543425"/>
            <a:ext cx="48841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Hill Climbing</a:t>
            </a: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explores neighbors greedily</a:t>
            </a:r>
            <a:endParaRPr lang="en-US" sz="1500" dirty="0"/>
          </a:p>
        </p:txBody>
      </p:sp>
      <p:sp>
        <p:nvSpPr>
          <p:cNvPr id="55" name="Text 26"/>
          <p:cNvSpPr/>
          <p:nvPr/>
        </p:nvSpPr>
        <p:spPr>
          <a:xfrm>
            <a:off x="6587609" y="4810125"/>
            <a:ext cx="48841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But can get stuck in local optimal</a:t>
            </a:r>
            <a:endParaRPr lang="en-US" sz="1500" dirty="0"/>
          </a:p>
        </p:txBody>
      </p:sp>
      <p:sp>
        <p:nvSpPr>
          <p:cNvPr id="56" name="Text 27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11/13</a:t>
            </a:r>
            <a:endParaRPr lang="en-US" sz="105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B1DC4EA-0754-6C5E-DE01-F32D0E593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5302" y="880852"/>
            <a:ext cx="3543795" cy="3019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09700"/>
            <a:ext cx="3714601" cy="495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9401" y="1409700"/>
            <a:ext cx="1469529" cy="49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8930" y="1409700"/>
            <a:ext cx="1885950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4880" y="1409700"/>
            <a:ext cx="2190304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5184" y="1409700"/>
            <a:ext cx="2322016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1905000"/>
            <a:ext cx="3714601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9401" y="1905000"/>
            <a:ext cx="1469529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916" y="20193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8930" y="1905000"/>
            <a:ext cx="1885950" cy="495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655" y="20193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4880" y="1905000"/>
            <a:ext cx="2190304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65184" y="1905000"/>
            <a:ext cx="2322016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2400300"/>
            <a:ext cx="3714601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19401" y="2400300"/>
            <a:ext cx="1469529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58916" y="25146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88930" y="2400300"/>
            <a:ext cx="1885950" cy="495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6655" y="2514600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74880" y="2400300"/>
            <a:ext cx="2190304" cy="495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65184" y="2400300"/>
            <a:ext cx="2322016" cy="495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895600"/>
            <a:ext cx="3714601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9401" y="2895600"/>
            <a:ext cx="1469529" cy="495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916" y="3009900"/>
            <a:ext cx="19050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8930" y="2895600"/>
            <a:ext cx="1885950" cy="495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655" y="300990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4880" y="2895600"/>
            <a:ext cx="2190304" cy="495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65184" y="2895600"/>
            <a:ext cx="2322016" cy="4953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3390900"/>
            <a:ext cx="3714601" cy="4953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19401" y="3390900"/>
            <a:ext cx="1469529" cy="495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916" y="3505200"/>
            <a:ext cx="190500" cy="2667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88930" y="3390900"/>
            <a:ext cx="1885950" cy="4953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655" y="3505200"/>
            <a:ext cx="190500" cy="2667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74880" y="3390900"/>
            <a:ext cx="2190304" cy="4953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65184" y="3390900"/>
            <a:ext cx="2322016" cy="495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3886200"/>
            <a:ext cx="3714601" cy="4953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9401" y="3886200"/>
            <a:ext cx="1469529" cy="4953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916" y="4000500"/>
            <a:ext cx="190500" cy="2667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8930" y="3886200"/>
            <a:ext cx="1885950" cy="4953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655" y="4000500"/>
            <a:ext cx="190500" cy="2667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4880" y="3886200"/>
            <a:ext cx="2190304" cy="4953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65184" y="3886200"/>
            <a:ext cx="2322016" cy="4953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4381500"/>
            <a:ext cx="3714601" cy="4953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19401" y="4381500"/>
            <a:ext cx="1469529" cy="4953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58916" y="4495800"/>
            <a:ext cx="190500" cy="2667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88930" y="4381500"/>
            <a:ext cx="1885950" cy="4953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6655" y="4495800"/>
            <a:ext cx="190500" cy="2667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74880" y="4381500"/>
            <a:ext cx="2190304" cy="4953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65184" y="4381500"/>
            <a:ext cx="2322016" cy="4953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9430" y="5943600"/>
            <a:ext cx="190500" cy="2667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85896" y="5943600"/>
            <a:ext cx="190500" cy="2667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54" name="Text 0"/>
          <p:cNvSpPr/>
          <p:nvPr/>
        </p:nvSpPr>
        <p:spPr>
          <a:xfrm>
            <a:off x="190500" y="95250"/>
            <a:ext cx="1417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Comparison Between Algorithms</a:t>
            </a:r>
            <a:endParaRPr lang="en-US" sz="2700" dirty="0"/>
          </a:p>
        </p:txBody>
      </p:sp>
      <p:sp>
        <p:nvSpPr>
          <p:cNvPr id="55" name="Text 1"/>
          <p:cNvSpPr/>
          <p:nvPr/>
        </p:nvSpPr>
        <p:spPr>
          <a:xfrm>
            <a:off x="304800" y="876300"/>
            <a:ext cx="138988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comparison of search algorithms for the 8-Puzzle problem:</a:t>
            </a:r>
            <a:endParaRPr lang="en-US" sz="1800" dirty="0"/>
          </a:p>
        </p:txBody>
      </p:sp>
      <p:sp>
        <p:nvSpPr>
          <p:cNvPr id="56" name="Text 2"/>
          <p:cNvSpPr/>
          <p:nvPr/>
        </p:nvSpPr>
        <p:spPr>
          <a:xfrm>
            <a:off x="304800" y="1409700"/>
            <a:ext cx="3714601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Algorithm</a:t>
            </a:r>
            <a:endParaRPr lang="en-US" sz="1500" dirty="0"/>
          </a:p>
        </p:txBody>
      </p:sp>
      <p:sp>
        <p:nvSpPr>
          <p:cNvPr id="57" name="Text 3"/>
          <p:cNvSpPr/>
          <p:nvPr/>
        </p:nvSpPr>
        <p:spPr>
          <a:xfrm>
            <a:off x="3872448" y="1409700"/>
            <a:ext cx="176343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Optimality</a:t>
            </a:r>
            <a:endParaRPr lang="en-US" sz="1500" dirty="0"/>
          </a:p>
        </p:txBody>
      </p:sp>
      <p:sp>
        <p:nvSpPr>
          <p:cNvPr id="58" name="Text 4"/>
          <p:cNvSpPr/>
          <p:nvPr/>
        </p:nvSpPr>
        <p:spPr>
          <a:xfrm>
            <a:off x="5300335" y="1409700"/>
            <a:ext cx="226314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Completeness</a:t>
            </a:r>
            <a:endParaRPr lang="en-US" sz="1500" dirty="0"/>
          </a:p>
        </p:txBody>
      </p:sp>
      <p:sp>
        <p:nvSpPr>
          <p:cNvPr id="59" name="Text 5"/>
          <p:cNvSpPr/>
          <p:nvPr/>
        </p:nvSpPr>
        <p:spPr>
          <a:xfrm>
            <a:off x="7155850" y="1409700"/>
            <a:ext cx="262836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Complexity</a:t>
            </a:r>
            <a:endParaRPr lang="en-US" sz="1500" dirty="0"/>
          </a:p>
        </p:txBody>
      </p:sp>
      <p:sp>
        <p:nvSpPr>
          <p:cNvPr id="60" name="Text 6"/>
          <p:cNvSpPr/>
          <p:nvPr/>
        </p:nvSpPr>
        <p:spPr>
          <a:xfrm>
            <a:off x="9332982" y="1409700"/>
            <a:ext cx="278642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Space Complexity</a:t>
            </a:r>
            <a:endParaRPr lang="en-US" sz="1500" dirty="0"/>
          </a:p>
        </p:txBody>
      </p:sp>
      <p:sp>
        <p:nvSpPr>
          <p:cNvPr id="61" name="Text 7"/>
          <p:cNvSpPr/>
          <p:nvPr/>
        </p:nvSpPr>
        <p:spPr>
          <a:xfrm>
            <a:off x="-66660" y="1905000"/>
            <a:ext cx="4457521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Breadth-First Search (BFS)</a:t>
            </a:r>
            <a:endParaRPr lang="en-US" sz="1350" dirty="0"/>
          </a:p>
        </p:txBody>
      </p:sp>
      <p:sp>
        <p:nvSpPr>
          <p:cNvPr id="62" name="Text 8"/>
          <p:cNvSpPr/>
          <p:nvPr/>
        </p:nvSpPr>
        <p:spPr>
          <a:xfrm>
            <a:off x="7374880" y="1905000"/>
            <a:ext cx="219030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O(b^d)</a:t>
            </a:r>
            <a:endParaRPr lang="en-US" sz="1350" dirty="0"/>
          </a:p>
        </p:txBody>
      </p:sp>
      <p:sp>
        <p:nvSpPr>
          <p:cNvPr id="63" name="Text 9"/>
          <p:cNvSpPr/>
          <p:nvPr/>
        </p:nvSpPr>
        <p:spPr>
          <a:xfrm>
            <a:off x="9565184" y="1905000"/>
            <a:ext cx="2322016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O(b^d)</a:t>
            </a:r>
            <a:endParaRPr lang="en-US" sz="1350" dirty="0"/>
          </a:p>
        </p:txBody>
      </p:sp>
      <p:sp>
        <p:nvSpPr>
          <p:cNvPr id="64" name="Text 10"/>
          <p:cNvSpPr/>
          <p:nvPr/>
        </p:nvSpPr>
        <p:spPr>
          <a:xfrm>
            <a:off x="-66660" y="2400300"/>
            <a:ext cx="4457521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Depth-First Search (DFS)</a:t>
            </a:r>
            <a:endParaRPr lang="en-US" sz="1350" dirty="0"/>
          </a:p>
        </p:txBody>
      </p:sp>
      <p:sp>
        <p:nvSpPr>
          <p:cNvPr id="65" name="Text 11"/>
          <p:cNvSpPr/>
          <p:nvPr/>
        </p:nvSpPr>
        <p:spPr>
          <a:xfrm>
            <a:off x="7374880" y="2400300"/>
            <a:ext cx="219030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</a:t>
            </a:r>
            <a:r>
              <a:rPr lang="en-US" sz="135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1350" dirty="0"/>
          </a:p>
        </p:txBody>
      </p:sp>
      <p:sp>
        <p:nvSpPr>
          <p:cNvPr id="66" name="Text 12"/>
          <p:cNvSpPr/>
          <p:nvPr/>
        </p:nvSpPr>
        <p:spPr>
          <a:xfrm>
            <a:off x="9565184" y="2400300"/>
            <a:ext cx="2322016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O(b*d)</a:t>
            </a:r>
            <a:endParaRPr lang="en-US" sz="1350" dirty="0"/>
          </a:p>
        </p:txBody>
      </p:sp>
      <p:sp>
        <p:nvSpPr>
          <p:cNvPr id="67" name="Text 13"/>
          <p:cNvSpPr/>
          <p:nvPr/>
        </p:nvSpPr>
        <p:spPr>
          <a:xfrm>
            <a:off x="-66660" y="2895600"/>
            <a:ext cx="4457521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Uniform Cost Search (UCS)</a:t>
            </a:r>
            <a:endParaRPr lang="en-US" sz="1350" dirty="0"/>
          </a:p>
        </p:txBody>
      </p:sp>
      <p:sp>
        <p:nvSpPr>
          <p:cNvPr id="68" name="Text 14"/>
          <p:cNvSpPr/>
          <p:nvPr/>
        </p:nvSpPr>
        <p:spPr>
          <a:xfrm>
            <a:off x="7155850" y="2895600"/>
            <a:ext cx="262836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</a:t>
            </a:r>
            <a:r>
              <a:rPr lang="en-US" sz="135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1350" dirty="0"/>
          </a:p>
        </p:txBody>
      </p:sp>
      <p:sp>
        <p:nvSpPr>
          <p:cNvPr id="69" name="Text 15"/>
          <p:cNvSpPr/>
          <p:nvPr/>
        </p:nvSpPr>
        <p:spPr>
          <a:xfrm>
            <a:off x="9332982" y="2895600"/>
            <a:ext cx="278642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</a:t>
            </a:r>
            <a:r>
              <a:rPr lang="en-US" sz="1350" dirty="0" err="1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b^d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1350" dirty="0"/>
          </a:p>
        </p:txBody>
      </p:sp>
      <p:sp>
        <p:nvSpPr>
          <p:cNvPr id="70" name="Text 16"/>
          <p:cNvSpPr/>
          <p:nvPr/>
        </p:nvSpPr>
        <p:spPr>
          <a:xfrm>
            <a:off x="-66660" y="3390900"/>
            <a:ext cx="4457521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Iterative Deepening Search (IDS)</a:t>
            </a:r>
            <a:endParaRPr lang="en-US" sz="1350" dirty="0"/>
          </a:p>
        </p:txBody>
      </p:sp>
      <p:sp>
        <p:nvSpPr>
          <p:cNvPr id="71" name="Text 17"/>
          <p:cNvSpPr/>
          <p:nvPr/>
        </p:nvSpPr>
        <p:spPr>
          <a:xfrm>
            <a:off x="7374880" y="3390900"/>
            <a:ext cx="219030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O(b^d)</a:t>
            </a:r>
            <a:endParaRPr lang="en-US" sz="1350" dirty="0"/>
          </a:p>
        </p:txBody>
      </p:sp>
      <p:sp>
        <p:nvSpPr>
          <p:cNvPr id="72" name="Text 18"/>
          <p:cNvSpPr/>
          <p:nvPr/>
        </p:nvSpPr>
        <p:spPr>
          <a:xfrm>
            <a:off x="9565184" y="3390900"/>
            <a:ext cx="2322016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O(b*d)</a:t>
            </a:r>
            <a:endParaRPr lang="en-US" sz="1350" dirty="0"/>
          </a:p>
        </p:txBody>
      </p:sp>
      <p:sp>
        <p:nvSpPr>
          <p:cNvPr id="73" name="Text 19"/>
          <p:cNvSpPr/>
          <p:nvPr/>
        </p:nvSpPr>
        <p:spPr>
          <a:xfrm>
            <a:off x="-66660" y="3886200"/>
            <a:ext cx="4457521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A* Search (Manhattan Distance)</a:t>
            </a:r>
            <a:endParaRPr lang="en-US" sz="1350" dirty="0"/>
          </a:p>
        </p:txBody>
      </p:sp>
      <p:sp>
        <p:nvSpPr>
          <p:cNvPr id="74" name="Text 20"/>
          <p:cNvSpPr/>
          <p:nvPr/>
        </p:nvSpPr>
        <p:spPr>
          <a:xfrm>
            <a:off x="8203461" y="3886200"/>
            <a:ext cx="262836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400" kern="1200" dirty="0">
                <a:solidFill>
                  <a:srgbClr val="333333"/>
                </a:solidFill>
                <a:effectLst/>
                <a:latin typeface="ui-sans-serif"/>
                <a:ea typeface="ui-sans-serif"/>
                <a:cs typeface="ui-sans-serif"/>
              </a:rPr>
              <a:t>O(</a:t>
            </a:r>
            <a:r>
              <a:rPr lang="en-US" sz="1400" kern="1200" dirty="0" err="1">
                <a:solidFill>
                  <a:srgbClr val="333333"/>
                </a:solidFill>
                <a:effectLst/>
                <a:latin typeface="ui-sans-serif"/>
                <a:ea typeface="ui-sans-serif"/>
                <a:cs typeface="ui-sans-serif"/>
              </a:rPr>
              <a:t>b^d</a:t>
            </a:r>
            <a:r>
              <a:rPr lang="en-US" sz="1400" kern="1200" dirty="0">
                <a:solidFill>
                  <a:srgbClr val="333333"/>
                </a:solidFill>
                <a:effectLst/>
                <a:latin typeface="ui-sans-serif"/>
                <a:ea typeface="ui-sans-serif"/>
                <a:cs typeface="ui-sans-serif"/>
              </a:rPr>
              <a:t>)</a:t>
            </a:r>
            <a:endParaRPr lang="en-US" sz="1400" b="1" dirty="0"/>
          </a:p>
        </p:txBody>
      </p:sp>
      <p:sp>
        <p:nvSpPr>
          <p:cNvPr id="75" name="Text 21"/>
          <p:cNvSpPr/>
          <p:nvPr/>
        </p:nvSpPr>
        <p:spPr>
          <a:xfrm>
            <a:off x="9565184" y="3886200"/>
            <a:ext cx="2322016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400" kern="1200" dirty="0">
                <a:solidFill>
                  <a:srgbClr val="333333"/>
                </a:solidFill>
                <a:effectLst/>
                <a:latin typeface="ui-sans-serif"/>
                <a:ea typeface="ui-sans-serif"/>
                <a:cs typeface="ui-sans-serif"/>
              </a:rPr>
              <a:t>O(</a:t>
            </a:r>
            <a:r>
              <a:rPr lang="en-US" sz="1400" kern="1200" dirty="0" err="1">
                <a:solidFill>
                  <a:srgbClr val="333333"/>
                </a:solidFill>
                <a:effectLst/>
                <a:latin typeface="ui-sans-serif"/>
                <a:ea typeface="ui-sans-serif"/>
                <a:cs typeface="ui-sans-serif"/>
              </a:rPr>
              <a:t>b^d</a:t>
            </a:r>
            <a:r>
              <a:rPr lang="en-US" sz="1400" kern="1200" dirty="0">
                <a:solidFill>
                  <a:srgbClr val="333333"/>
                </a:solidFill>
                <a:effectLst/>
                <a:latin typeface="ui-sans-serif"/>
                <a:ea typeface="ui-sans-serif"/>
                <a:cs typeface="ui-sans-serif"/>
              </a:rPr>
              <a:t>)</a:t>
            </a:r>
            <a:endParaRPr lang="en-US" sz="1400" dirty="0"/>
          </a:p>
        </p:txBody>
      </p:sp>
      <p:sp>
        <p:nvSpPr>
          <p:cNvPr id="76" name="Text 22"/>
          <p:cNvSpPr/>
          <p:nvPr/>
        </p:nvSpPr>
        <p:spPr>
          <a:xfrm>
            <a:off x="-66660" y="4381500"/>
            <a:ext cx="4457521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Hill Climbing Algorithm</a:t>
            </a:r>
            <a:endParaRPr lang="en-US" sz="1350" dirty="0"/>
          </a:p>
        </p:txBody>
      </p:sp>
      <p:sp>
        <p:nvSpPr>
          <p:cNvPr id="77" name="Text 23"/>
          <p:cNvSpPr/>
          <p:nvPr/>
        </p:nvSpPr>
        <p:spPr>
          <a:xfrm>
            <a:off x="7374880" y="4381500"/>
            <a:ext cx="219030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</a:rPr>
              <a:t>H(n) , b</a:t>
            </a:r>
            <a:endParaRPr lang="en-US" sz="1350" dirty="0"/>
          </a:p>
        </p:txBody>
      </p:sp>
      <p:sp>
        <p:nvSpPr>
          <p:cNvPr id="78" name="Text 24"/>
          <p:cNvSpPr/>
          <p:nvPr/>
        </p:nvSpPr>
        <p:spPr>
          <a:xfrm>
            <a:off x="9565184" y="4381500"/>
            <a:ext cx="2322016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O(1)</a:t>
            </a:r>
            <a:endParaRPr lang="en-US" sz="1350" dirty="0"/>
          </a:p>
        </p:txBody>
      </p:sp>
      <p:sp>
        <p:nvSpPr>
          <p:cNvPr id="79" name="Text 25"/>
          <p:cNvSpPr/>
          <p:nvPr/>
        </p:nvSpPr>
        <p:spPr>
          <a:xfrm>
            <a:off x="8086130" y="5943600"/>
            <a:ext cx="18568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Yes = Guaranteed</a:t>
            </a:r>
            <a:endParaRPr lang="en-US" sz="1350" dirty="0"/>
          </a:p>
        </p:txBody>
      </p:sp>
      <p:sp>
        <p:nvSpPr>
          <p:cNvPr id="80" name="Text 26"/>
          <p:cNvSpPr/>
          <p:nvPr/>
        </p:nvSpPr>
        <p:spPr>
          <a:xfrm>
            <a:off x="10052596" y="5943600"/>
            <a:ext cx="2201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= Not guaranteed</a:t>
            </a:r>
            <a:endParaRPr lang="en-US" sz="1350" dirty="0"/>
          </a:p>
        </p:txBody>
      </p:sp>
      <p:sp>
        <p:nvSpPr>
          <p:cNvPr id="81" name="Text 27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12/13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1158240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133475"/>
            <a:ext cx="219075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476500"/>
            <a:ext cx="5695950" cy="3733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5503" y="2647950"/>
            <a:ext cx="2571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" y="3038475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" y="3419475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" y="3800475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2476500"/>
            <a:ext cx="5695950" cy="3733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3293" y="264795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4125" y="3038475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4125" y="3419475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4125" y="3800475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190500" y="95250"/>
            <a:ext cx="1417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Conclusion - A* is the Best Algorithm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866775" y="1104900"/>
            <a:ext cx="133502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A* Search with Manhattan Distance is Optimal</a:t>
            </a:r>
            <a:endParaRPr lang="en-US" sz="2250" dirty="0"/>
          </a:p>
        </p:txBody>
      </p:sp>
      <p:sp>
        <p:nvSpPr>
          <p:cNvPr id="19" name="Text 2"/>
          <p:cNvSpPr/>
          <p:nvPr/>
        </p:nvSpPr>
        <p:spPr>
          <a:xfrm>
            <a:off x="533400" y="1600200"/>
            <a:ext cx="1335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A* Search provides the </a:t>
            </a:r>
            <a:r>
              <a:rPr lang="en-US" sz="15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balance</a:t>
            </a: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 efficiency, completeness, and optimality for 8-Puzzle solving.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447675" y="2619375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A* Search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695325" y="3000375"/>
            <a:ext cx="400532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Optimality: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Guarantees shortest path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695325" y="3381375"/>
            <a:ext cx="44950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Completeness: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Finds solution if one exists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695325" y="3762375"/>
            <a:ext cx="594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Efficiency: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Significantly faster than uninformed searches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1896547" y="5819775"/>
            <a:ext cx="25124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80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Overall Choice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334125" y="2619375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Other Algorithms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6581775" y="3000375"/>
            <a:ext cx="33052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DFS: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Not optimal, not complete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6581775" y="3381375"/>
            <a:ext cx="39642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UCS: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Optimal but high memory usage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6581775" y="3762375"/>
            <a:ext cx="43694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IDS: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Optimal but redundant computations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7674054" y="5819775"/>
            <a:ext cx="27303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Practical Use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76200" y="6591300"/>
            <a:ext cx="1203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13/13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1244</Words>
  <Application>Microsoft Office PowerPoint</Application>
  <PresentationFormat>Widescreen</PresentationFormat>
  <Paragraphs>269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عبدالله الصاوى اسماعيل محمد البدي</cp:lastModifiedBy>
  <cp:revision>4</cp:revision>
  <dcterms:created xsi:type="dcterms:W3CDTF">2025-12-19T20:40:55Z</dcterms:created>
  <dcterms:modified xsi:type="dcterms:W3CDTF">2025-12-20T07:41:45Z</dcterms:modified>
</cp:coreProperties>
</file>